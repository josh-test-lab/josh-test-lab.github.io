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70" r:id="rId13"/>
    <p:sldId id="266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18B38-A7A4-49F9-8DC8-A944EF6C3C57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19B9D-3FF3-4BE5-AF81-F59486AD27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159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19B9D-3FF3-4BE5-AF81-F59486AD27F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364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97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cjkFonts 全瀨體" panose="02000600000000000000" pitchFamily="2" charset="-120"/>
                <a:ea typeface="cjkFonts 全瀨體" panose="02000600000000000000" pitchFamily="2" charset="-120"/>
                <a:cs typeface="cjkFonts 全瀨體" panose="02000600000000000000" pitchFamily="2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3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916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79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76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548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60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87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8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43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10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346133-937B-492B-A228-B00659D110C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D83CE1C-5071-4E92-A7DA-63BA6B5F96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95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package" Target="../embeddings/Microsoft_Word_Document2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Document3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9.png"/><Relationship Id="rId7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30.e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32.e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33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2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4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50.emf"/><Relationship Id="rId18" Type="http://schemas.openxmlformats.org/officeDocument/2006/relationships/oleObject" Target="../embeddings/oleObject42.bin"/><Relationship Id="rId3" Type="http://schemas.openxmlformats.org/officeDocument/2006/relationships/image" Target="../media/image45.emf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52.e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9.emf"/><Relationship Id="rId5" Type="http://schemas.openxmlformats.org/officeDocument/2006/relationships/image" Target="../media/image46.emf"/><Relationship Id="rId15" Type="http://schemas.openxmlformats.org/officeDocument/2006/relationships/image" Target="../media/image51.e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53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4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29F1EF-5AF5-2F86-FDBF-EC32EABC9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307" y="1274620"/>
            <a:ext cx="8663709" cy="2577130"/>
          </a:xfrm>
        </p:spPr>
        <p:txBody>
          <a:bodyPr>
            <a:normAutofit/>
          </a:bodyPr>
          <a:lstStyle/>
          <a:p>
            <a:r>
              <a:rPr lang="en-US" altLang="zh-TW" sz="5400" dirty="0">
                <a:latin typeface="cjkFonts 全瀨體" panose="02000600000000000000" pitchFamily="2" charset="-120"/>
                <a:ea typeface="cjkFonts 全瀨體" panose="02000600000000000000" pitchFamily="2" charset="-120"/>
                <a:cs typeface="cjkFonts 全瀨體" panose="02000600000000000000" pitchFamily="2" charset="-120"/>
              </a:rPr>
              <a:t>114-2</a:t>
            </a:r>
            <a:r>
              <a:rPr lang="zh-TW" altLang="en-US" sz="5400" dirty="0">
                <a:latin typeface="cjkFonts 全瀨體" panose="02000600000000000000" pitchFamily="2" charset="-120"/>
                <a:ea typeface="cjkFonts 全瀨體" panose="02000600000000000000" pitchFamily="2" charset="-120"/>
                <a:cs typeface="cjkFonts 全瀨體" panose="02000600000000000000" pitchFamily="2" charset="-120"/>
              </a:rPr>
              <a:t> 七下數學三段複習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3F71BE-2526-BEFB-4F4F-ACFD1561B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0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3390AA-CECB-BD41-85BB-3D563860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段考注意事項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90C448-6F6C-D35D-DC70-72B0BE0D1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989652" cy="5120640"/>
          </a:xfrm>
        </p:spPr>
        <p:txBody>
          <a:bodyPr/>
          <a:lstStyle/>
          <a:p>
            <a:r>
              <a:rPr lang="zh-TW" altLang="en-US" sz="2800" dirty="0"/>
              <a:t>所有「圖」、「表」都要用「尺」畫</a:t>
            </a:r>
            <a:r>
              <a:rPr lang="zh-TW" altLang="en-US" sz="2800" b="1" dirty="0">
                <a:solidFill>
                  <a:srgbClr val="FF0000"/>
                </a:solidFill>
              </a:rPr>
              <a:t>直線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r>
              <a:rPr lang="zh-TW" altLang="en-US" sz="2800" dirty="0"/>
              <a:t>字寫</a:t>
            </a:r>
            <a:r>
              <a:rPr lang="zh-TW" altLang="en-US" sz="2800" b="1" dirty="0">
                <a:solidFill>
                  <a:srgbClr val="FF0000"/>
                </a:solidFill>
              </a:rPr>
              <a:t>端正</a:t>
            </a:r>
            <a:r>
              <a:rPr lang="zh-TW" altLang="en-US" sz="2800" dirty="0"/>
              <a:t>，若無法辨識則該題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/>
              <a:t>分</a:t>
            </a:r>
            <a:endParaRPr lang="en-US" altLang="zh-TW" dirty="0"/>
          </a:p>
          <a:p>
            <a:r>
              <a:rPr lang="zh-TW" altLang="en-US" sz="2800" dirty="0"/>
              <a:t>選擇題、填充題外的題目都要寫「</a:t>
            </a:r>
            <a:r>
              <a:rPr lang="zh-TW" altLang="en-US" sz="2800" b="1" dirty="0">
                <a:solidFill>
                  <a:srgbClr val="FF0000"/>
                </a:solidFill>
              </a:rPr>
              <a:t>過程</a:t>
            </a:r>
            <a:r>
              <a:rPr lang="zh-TW" altLang="en-US" sz="2800" dirty="0"/>
              <a:t>」和「</a:t>
            </a:r>
            <a:r>
              <a:rPr lang="zh-TW" altLang="en-US" sz="2800" b="1" dirty="0">
                <a:solidFill>
                  <a:srgbClr val="FF0000"/>
                </a:solidFill>
              </a:rPr>
              <a:t>答</a:t>
            </a:r>
            <a:r>
              <a:rPr lang="zh-TW" altLang="en-US" sz="2800" dirty="0"/>
              <a:t>」</a:t>
            </a:r>
            <a:endParaRPr lang="en-US" altLang="zh-TW" sz="2800" dirty="0"/>
          </a:p>
          <a:p>
            <a:r>
              <a:rPr lang="zh-TW" altLang="en-US" sz="2800" dirty="0"/>
              <a:t>寫「答」時，未寫</a:t>
            </a:r>
            <a:r>
              <a:rPr lang="zh-TW" altLang="en-US" sz="2800" b="1" dirty="0">
                <a:solidFill>
                  <a:srgbClr val="FF0000"/>
                </a:solidFill>
              </a:rPr>
              <a:t>單位</a:t>
            </a:r>
            <a:r>
              <a:rPr lang="zh-TW" altLang="en-US" sz="2800" dirty="0"/>
              <a:t>扣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/>
              <a:t> 分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2499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7A5C23-A83C-452A-F9AF-D94FAF484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309090"/>
            <a:ext cx="7315200" cy="3675657"/>
          </a:xfrm>
        </p:spPr>
        <p:txBody>
          <a:bodyPr anchor="t"/>
          <a:lstStyle/>
          <a:p>
            <a:r>
              <a:rPr lang="zh-TW" altLang="en-US" dirty="0"/>
              <a:t>寫「不等式」時要寫「</a:t>
            </a:r>
            <a:r>
              <a:rPr lang="zh-TW" altLang="en-US" b="1" dirty="0">
                <a:solidFill>
                  <a:srgbClr val="FF0000"/>
                </a:solidFill>
              </a:rPr>
              <a:t>不等號</a:t>
            </a:r>
            <a:r>
              <a:rPr lang="zh-TW" altLang="en-US" dirty="0"/>
              <a:t>」：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821766A-2FD4-8DA6-FAFB-1838CC517851}"/>
              </a:ext>
            </a:extLst>
          </p:cNvPr>
          <p:cNvSpPr/>
          <p:nvPr/>
        </p:nvSpPr>
        <p:spPr>
          <a:xfrm>
            <a:off x="3962400" y="726673"/>
            <a:ext cx="7222068" cy="12591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若不等式中，只含有一種未知數</a:t>
            </a:r>
            <a:r>
              <a:rPr lang="en-US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一元</a:t>
            </a:r>
            <a:r>
              <a:rPr lang="en-US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，且未知數的次數為</a:t>
            </a:r>
            <a:r>
              <a:rPr lang="en-US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1(</a:t>
            </a:r>
            <a:r>
              <a:rPr lang="zh-TW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一次</a:t>
            </a:r>
            <a:r>
              <a:rPr lang="en-US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，則此不等式就稱為</a:t>
            </a:r>
            <a:r>
              <a:rPr lang="zh-TW" altLang="zh-TW" sz="2200" b="1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一元一次不等式</a:t>
            </a:r>
            <a:r>
              <a:rPr lang="zh-TW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28013DE-6483-DA0B-78D7-B48FD389F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63104"/>
              </p:ext>
            </p:extLst>
          </p:nvPr>
        </p:nvGraphicFramePr>
        <p:xfrm>
          <a:off x="4492400" y="2994003"/>
          <a:ext cx="6162068" cy="2545196"/>
        </p:xfrm>
        <a:graphic>
          <a:graphicData uri="http://schemas.openxmlformats.org/drawingml/2006/table">
            <a:tbl>
              <a:tblPr firstRow="1" firstCol="1" bandRow="1"/>
              <a:tblGrid>
                <a:gridCol w="5191640">
                  <a:extLst>
                    <a:ext uri="{9D8B030D-6E8A-4147-A177-3AD203B41FA5}">
                      <a16:colId xmlns:a16="http://schemas.microsoft.com/office/drawing/2014/main" val="147828178"/>
                    </a:ext>
                  </a:extLst>
                </a:gridCol>
                <a:gridCol w="970428">
                  <a:extLst>
                    <a:ext uri="{9D8B030D-6E8A-4147-A177-3AD203B41FA5}">
                      <a16:colId xmlns:a16="http://schemas.microsoft.com/office/drawing/2014/main" val="1934051198"/>
                    </a:ext>
                  </a:extLst>
                </a:gridCol>
              </a:tblGrid>
              <a:tr h="461166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習慣用語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不等號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69588"/>
                  </a:ext>
                </a:extLst>
              </a:tr>
              <a:tr h="461166">
                <a:tc>
                  <a:txBody>
                    <a:bodyPr/>
                    <a:lstStyle/>
                    <a:p>
                      <a:pPr indent="-734695" algn="just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⑴大於、超過、高於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＞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1343"/>
                  </a:ext>
                </a:extLst>
              </a:tr>
              <a:tr h="461166">
                <a:tc>
                  <a:txBody>
                    <a:bodyPr/>
                    <a:lstStyle/>
                    <a:p>
                      <a:pPr indent="-734695" algn="just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⑵小於、未滿、低於、不到、不夠、不足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070667"/>
                  </a:ext>
                </a:extLst>
              </a:tr>
              <a:tr h="461166">
                <a:tc>
                  <a:txBody>
                    <a:bodyPr/>
                    <a:lstStyle/>
                    <a:p>
                      <a:pPr indent="-734695" algn="just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⑶不小於、不低於、至少、以上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lang="zh-TW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含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≥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926827"/>
                  </a:ext>
                </a:extLst>
              </a:tr>
              <a:tr h="461166">
                <a:tc>
                  <a:txBody>
                    <a:bodyPr/>
                    <a:lstStyle/>
                    <a:p>
                      <a:pPr indent="-734695" algn="just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TW" sz="20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⑷不大於、不超過、不逾、不高於、至多、以下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lang="zh-TW" sz="20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含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20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≤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397978"/>
                  </a:ext>
                </a:extLst>
              </a:tr>
            </a:tbl>
          </a:graphicData>
        </a:graphic>
      </p:graphicFrame>
      <p:sp>
        <p:nvSpPr>
          <p:cNvPr id="12" name="標題 1">
            <a:extLst>
              <a:ext uri="{FF2B5EF4-FFF2-40B4-BE49-F238E27FC236}">
                <a16:creationId xmlns:a16="http://schemas.microsoft.com/office/drawing/2014/main" id="{DC4460F4-33F7-DC02-453C-0D238D95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23837"/>
            <a:ext cx="3435926" cy="4601183"/>
          </a:xfrm>
        </p:spPr>
        <p:txBody>
          <a:bodyPr/>
          <a:lstStyle/>
          <a:p>
            <a:r>
              <a:rPr lang="en-US" altLang="zh-TW" dirty="0"/>
              <a:t>4-1</a:t>
            </a:r>
            <a:br>
              <a:rPr lang="en-US" altLang="zh-TW" dirty="0"/>
            </a:br>
            <a:r>
              <a:rPr lang="zh-TW" altLang="en-US" dirty="0"/>
              <a:t>一元一次不等式</a:t>
            </a:r>
          </a:p>
        </p:txBody>
      </p:sp>
    </p:spTree>
    <p:extLst>
      <p:ext uri="{BB962C8B-B14F-4D97-AF65-F5344CB8AC3E}">
        <p14:creationId xmlns:p14="http://schemas.microsoft.com/office/powerpoint/2010/main" val="237836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CF3134-18A6-4353-DEA0-39FB36AD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23837"/>
            <a:ext cx="3435926" cy="4601183"/>
          </a:xfrm>
        </p:spPr>
        <p:txBody>
          <a:bodyPr/>
          <a:lstStyle/>
          <a:p>
            <a:r>
              <a:rPr lang="en-US" altLang="zh-TW" dirty="0"/>
              <a:t>4-1</a:t>
            </a:r>
            <a:br>
              <a:rPr lang="en-US" altLang="zh-TW" dirty="0"/>
            </a:br>
            <a:r>
              <a:rPr lang="zh-TW" altLang="en-US" dirty="0"/>
              <a:t>一元一次不等式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46B25A-6C15-1D07-7E3A-646D7CB81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dirty="0"/>
              <a:t>三一律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＞</a:t>
            </a:r>
            <a:r>
              <a:rPr lang="zh-TW" altLang="en-US" dirty="0"/>
              <a:t>、</a:t>
            </a:r>
            <a:r>
              <a:rPr lang="zh-TW" altLang="zh-TW" dirty="0"/>
              <a:t>＝</a:t>
            </a:r>
            <a:r>
              <a:rPr lang="zh-TW" altLang="en-US" dirty="0"/>
              <a:t>、</a:t>
            </a:r>
            <a:r>
              <a:rPr lang="zh-TW" altLang="zh-TW" dirty="0"/>
              <a:t>＜</a:t>
            </a:r>
            <a:r>
              <a:rPr lang="zh-TW" altLang="en-US" dirty="0"/>
              <a:t> 只會同時存在一種情況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如果可能「</a:t>
            </a:r>
            <a:r>
              <a:rPr lang="zh-TW" altLang="en-US" dirty="0">
                <a:solidFill>
                  <a:srgbClr val="FF0000"/>
                </a:solidFill>
              </a:rPr>
              <a:t>大於或等於</a:t>
            </a:r>
            <a:r>
              <a:rPr lang="zh-TW" altLang="en-US" dirty="0"/>
              <a:t>」，則寫「</a:t>
            </a:r>
            <a:r>
              <a:rPr lang="en-US" altLang="zh-TW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≥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如果可能「</a:t>
            </a:r>
            <a:r>
              <a:rPr lang="zh-TW" altLang="en-US" dirty="0">
                <a:solidFill>
                  <a:srgbClr val="FF0000"/>
                </a:solidFill>
              </a:rPr>
              <a:t>小於或等於</a:t>
            </a:r>
            <a:r>
              <a:rPr lang="zh-TW" altLang="en-US" dirty="0"/>
              <a:t>」，則寫「</a:t>
            </a:r>
            <a:r>
              <a:rPr lang="en-US" altLang="zh-TW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≤</a:t>
            </a:r>
            <a:r>
              <a:rPr lang="zh-TW" altLang="en-US" dirty="0"/>
              <a:t>」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如果「</a:t>
            </a:r>
            <a:r>
              <a:rPr lang="zh-TW" altLang="en-US" dirty="0">
                <a:solidFill>
                  <a:srgbClr val="FF0000"/>
                </a:solidFill>
              </a:rPr>
              <a:t>不是大於</a:t>
            </a:r>
            <a:r>
              <a:rPr lang="zh-TW" altLang="en-US" dirty="0"/>
              <a:t>」，就代表「小於或等於 </a:t>
            </a:r>
            <a:r>
              <a:rPr lang="en-US" altLang="zh-TW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≤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如果「</a:t>
            </a:r>
            <a:r>
              <a:rPr lang="zh-TW" altLang="en-US" dirty="0">
                <a:solidFill>
                  <a:srgbClr val="FF0000"/>
                </a:solidFill>
              </a:rPr>
              <a:t>不是小於</a:t>
            </a:r>
            <a:r>
              <a:rPr lang="zh-TW" altLang="en-US" dirty="0"/>
              <a:t>」，就代表「大於或等於 </a:t>
            </a:r>
            <a:r>
              <a:rPr lang="en-US" altLang="zh-TW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≥</a:t>
            </a:r>
            <a:r>
              <a:rPr lang="zh-TW" altLang="en-US" dirty="0"/>
              <a:t>」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87909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70F626-B394-4B03-E1A1-41CAC584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8008696" cy="5120640"/>
          </a:xfrm>
        </p:spPr>
        <p:txBody>
          <a:bodyPr anchor="t"/>
          <a:lstStyle/>
          <a:p>
            <a:r>
              <a:rPr lang="zh-TW" altLang="en-US" dirty="0"/>
              <a:t>兩個不等號的情況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某飲料咖啡因含量超過</a:t>
            </a:r>
            <a:r>
              <a:rPr lang="en-US" altLang="zh-TW" dirty="0"/>
              <a:t>100</a:t>
            </a:r>
            <a:r>
              <a:rPr lang="zh-TW" altLang="en-US" dirty="0"/>
              <a:t>毫克，但不超過</a:t>
            </a:r>
            <a:r>
              <a:rPr lang="en-US" altLang="zh-TW" dirty="0"/>
              <a:t>200</a:t>
            </a:r>
            <a:r>
              <a:rPr lang="zh-TW" altLang="en-US" dirty="0"/>
              <a:t>毫克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設咖啡因含量 </a:t>
            </a:r>
            <a:r>
              <a:rPr lang="en-US" altLang="zh-TW" i="1" dirty="0"/>
              <a:t>x </a:t>
            </a:r>
            <a:r>
              <a:rPr lang="zh-TW" altLang="en-US" dirty="0"/>
              <a:t>毫克，則可以知道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i="1" dirty="0"/>
              <a:t>x </a:t>
            </a:r>
            <a:r>
              <a:rPr lang="en-US" altLang="zh-TW" dirty="0"/>
              <a:t>&gt; 100</a:t>
            </a:r>
            <a:r>
              <a:rPr lang="zh-TW" altLang="en-US" dirty="0"/>
              <a:t>，</a:t>
            </a:r>
            <a:r>
              <a:rPr lang="en-US" altLang="zh-TW" i="1" dirty="0"/>
              <a:t>x</a:t>
            </a:r>
            <a:r>
              <a:rPr lang="en-US" altLang="zh-TW" dirty="0"/>
              <a:t> </a:t>
            </a:r>
            <a:r>
              <a:rPr lang="en-US" altLang="zh-TW" sz="2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≤ </a:t>
            </a:r>
            <a:r>
              <a:rPr lang="en-US" altLang="zh-TW" dirty="0"/>
              <a:t>200  (</a:t>
            </a:r>
            <a:r>
              <a:rPr lang="en-US" altLang="zh-TW" i="1" dirty="0"/>
              <a:t>x</a:t>
            </a:r>
            <a:r>
              <a:rPr lang="zh-TW" altLang="en-US" dirty="0"/>
              <a:t>比</a:t>
            </a:r>
            <a:r>
              <a:rPr lang="en-US" altLang="zh-TW" dirty="0"/>
              <a:t>100</a:t>
            </a:r>
            <a:r>
              <a:rPr lang="zh-TW" altLang="en-US" dirty="0"/>
              <a:t>大，但比</a:t>
            </a:r>
            <a:r>
              <a:rPr lang="en-US" altLang="zh-TW" dirty="0"/>
              <a:t>200</a:t>
            </a:r>
            <a:r>
              <a:rPr lang="zh-TW" altLang="en-US" dirty="0"/>
              <a:t>小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i="1" dirty="0"/>
              <a:t>x</a:t>
            </a:r>
            <a:r>
              <a:rPr lang="zh-TW" altLang="en-US" dirty="0"/>
              <a:t>介於</a:t>
            </a:r>
            <a:r>
              <a:rPr lang="en-US" altLang="zh-TW" dirty="0"/>
              <a:t>100</a:t>
            </a:r>
            <a:r>
              <a:rPr lang="zh-TW" altLang="en-US" dirty="0"/>
              <a:t>和</a:t>
            </a:r>
            <a:r>
              <a:rPr lang="en-US" altLang="zh-TW" dirty="0"/>
              <a:t>200</a:t>
            </a:r>
            <a:r>
              <a:rPr lang="zh-TW" altLang="en-US" dirty="0"/>
              <a:t>之間，可以將兩不等式合併為一個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100 &lt; </a:t>
            </a:r>
            <a:r>
              <a:rPr lang="en-US" altLang="zh-TW" i="1" dirty="0"/>
              <a:t>x</a:t>
            </a:r>
            <a:r>
              <a:rPr lang="zh-TW" altLang="en-US" dirty="0"/>
              <a:t>，</a:t>
            </a:r>
            <a:r>
              <a:rPr lang="en-US" altLang="zh-TW" i="1" dirty="0"/>
              <a:t>x</a:t>
            </a:r>
            <a:r>
              <a:rPr lang="en-US" altLang="zh-TW" dirty="0"/>
              <a:t> </a:t>
            </a:r>
            <a:r>
              <a:rPr lang="en-US" altLang="zh-TW" sz="2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≤ </a:t>
            </a:r>
            <a:r>
              <a:rPr lang="en-US" altLang="zh-TW" dirty="0"/>
              <a:t>200 </a:t>
            </a:r>
            <a:r>
              <a:rPr lang="zh-TW" altLang="en-US" dirty="0"/>
              <a:t>  ⇒  </a:t>
            </a:r>
            <a:r>
              <a:rPr lang="en-US" altLang="zh-TW" dirty="0">
                <a:solidFill>
                  <a:srgbClr val="FF0000"/>
                </a:solidFill>
              </a:rPr>
              <a:t>100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&lt;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x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≤ </a:t>
            </a:r>
            <a:r>
              <a:rPr lang="en-US" altLang="zh-TW" dirty="0">
                <a:solidFill>
                  <a:srgbClr val="FF0000"/>
                </a:solidFill>
              </a:rPr>
              <a:t>200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C0F5AA4B-9F25-EA0D-BF35-C388A7F3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23837"/>
            <a:ext cx="3435926" cy="4601183"/>
          </a:xfrm>
        </p:spPr>
        <p:txBody>
          <a:bodyPr/>
          <a:lstStyle/>
          <a:p>
            <a:r>
              <a:rPr lang="en-US" altLang="zh-TW" dirty="0"/>
              <a:t>4-1</a:t>
            </a:r>
            <a:br>
              <a:rPr lang="en-US" altLang="zh-TW" dirty="0"/>
            </a:br>
            <a:r>
              <a:rPr lang="zh-TW" altLang="en-US" dirty="0"/>
              <a:t>一元一次不等式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2B12C5D-9EEC-7495-B815-BECE5686A55E}"/>
              </a:ext>
            </a:extLst>
          </p:cNvPr>
          <p:cNvSpPr/>
          <p:nvPr/>
        </p:nvSpPr>
        <p:spPr>
          <a:xfrm>
            <a:off x="3869269" y="5095447"/>
            <a:ext cx="7731604" cy="10005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注意：</a:t>
            </a: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未知數</a:t>
            </a:r>
            <a:r>
              <a:rPr lang="zh-TW" altLang="en-US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介於兩數之間，不等號開口方向應該是</a:t>
            </a:r>
            <a:r>
              <a:rPr lang="zh-TW" altLang="en-US" sz="22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一樣</a:t>
            </a:r>
            <a:r>
              <a:rPr lang="zh-TW" altLang="en-US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zh-TW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099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05BD4C-7196-C016-439A-4F5EE580D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圖示不等式的解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b="1" dirty="0"/>
              <a:t>實心</a:t>
            </a:r>
            <a:r>
              <a:rPr lang="zh-TW" altLang="en-US" dirty="0"/>
              <a:t>圓圈「  」代表「</a:t>
            </a:r>
            <a:r>
              <a:rPr lang="zh-TW" altLang="en-US" b="1" dirty="0">
                <a:solidFill>
                  <a:srgbClr val="FF0000"/>
                </a:solidFill>
              </a:rPr>
              <a:t>有</a:t>
            </a:r>
            <a:r>
              <a:rPr lang="zh-TW" altLang="en-US" dirty="0"/>
              <a:t>等於」       </a:t>
            </a:r>
            <a:r>
              <a:rPr lang="en-US" altLang="zh-TW" dirty="0"/>
              <a:t>(≤</a:t>
            </a:r>
            <a:r>
              <a:rPr lang="zh-TW" altLang="en-US" dirty="0"/>
              <a:t>、</a:t>
            </a:r>
            <a:r>
              <a:rPr lang="en-US" altLang="zh-TW" dirty="0"/>
              <a:t>≥)</a:t>
            </a:r>
          </a:p>
          <a:p>
            <a:pPr marL="0" indent="0">
              <a:buNone/>
            </a:pPr>
            <a:r>
              <a:rPr lang="zh-TW" altLang="en-US" b="1" dirty="0"/>
              <a:t>空心</a:t>
            </a:r>
            <a:r>
              <a:rPr lang="zh-TW" altLang="en-US" dirty="0"/>
              <a:t>圓圈「  」代表「</a:t>
            </a:r>
            <a:r>
              <a:rPr lang="zh-TW" altLang="en-US" b="1" dirty="0">
                <a:solidFill>
                  <a:srgbClr val="FF0000"/>
                </a:solidFill>
              </a:rPr>
              <a:t>沒有</a:t>
            </a:r>
            <a:r>
              <a:rPr lang="zh-TW" altLang="en-US" dirty="0"/>
              <a:t>等於」   </a:t>
            </a:r>
            <a:r>
              <a:rPr lang="en-US" altLang="zh-TW" dirty="0"/>
              <a:t>(</a:t>
            </a:r>
            <a:r>
              <a:rPr lang="zh-TW" altLang="zh-TW" dirty="0"/>
              <a:t>＜</a:t>
            </a:r>
            <a:r>
              <a:rPr lang="zh-TW" altLang="en-US" dirty="0"/>
              <a:t>、</a:t>
            </a:r>
            <a:r>
              <a:rPr lang="zh-TW" altLang="zh-TW" dirty="0"/>
              <a:t>＞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上面兩種不等式的線段要</a:t>
            </a:r>
            <a:r>
              <a:rPr lang="zh-TW" altLang="en-US" b="1" dirty="0">
                <a:solidFill>
                  <a:srgbClr val="FF0000"/>
                </a:solidFill>
              </a:rPr>
              <a:t>左右延伸到底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130EEC2A-D227-E9D4-879B-E6DFFD30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23837"/>
            <a:ext cx="3435926" cy="4601183"/>
          </a:xfrm>
        </p:spPr>
        <p:txBody>
          <a:bodyPr/>
          <a:lstStyle/>
          <a:p>
            <a:r>
              <a:rPr lang="en-US" altLang="zh-TW" dirty="0"/>
              <a:t>4-1</a:t>
            </a:r>
            <a:br>
              <a:rPr lang="en-US" altLang="zh-TW" dirty="0"/>
            </a:br>
            <a:r>
              <a:rPr lang="zh-TW" altLang="en-US" dirty="0"/>
              <a:t>一元一次不等式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D05C074-4A3E-725E-7704-76E644EDD80A}"/>
              </a:ext>
            </a:extLst>
          </p:cNvPr>
          <p:cNvSpPr/>
          <p:nvPr/>
        </p:nvSpPr>
        <p:spPr>
          <a:xfrm>
            <a:off x="5698068" y="2032000"/>
            <a:ext cx="267855" cy="2678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BF9C68FB-85EE-4E41-691E-A1B1FA511D29}"/>
              </a:ext>
            </a:extLst>
          </p:cNvPr>
          <p:cNvSpPr/>
          <p:nvPr/>
        </p:nvSpPr>
        <p:spPr>
          <a:xfrm>
            <a:off x="5698068" y="1466019"/>
            <a:ext cx="267855" cy="2678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0" name="物件 29">
            <a:extLst>
              <a:ext uri="{FF2B5EF4-FFF2-40B4-BE49-F238E27FC236}">
                <a16:creationId xmlns:a16="http://schemas.microsoft.com/office/drawing/2014/main" id="{BA2AF651-2565-3226-899E-A4C2AFDB6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074104"/>
              </p:ext>
            </p:extLst>
          </p:nvPr>
        </p:nvGraphicFramePr>
        <p:xfrm>
          <a:off x="3976541" y="2389197"/>
          <a:ext cx="4573570" cy="91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238860" imgH="650371" progId="Word.Picture.8">
                  <p:embed/>
                </p:oleObj>
              </mc:Choice>
              <mc:Fallback>
                <p:oleObj name="Picture" r:id="rId2" imgW="3238860" imgH="650371" progId="Word.Picture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541" y="2389197"/>
                        <a:ext cx="4573570" cy="9147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物件 31">
            <a:extLst>
              <a:ext uri="{FF2B5EF4-FFF2-40B4-BE49-F238E27FC236}">
                <a16:creationId xmlns:a16="http://schemas.microsoft.com/office/drawing/2014/main" id="{8FBA2CD2-A314-BBE3-8D1B-B8EA08EC4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455827"/>
              </p:ext>
            </p:extLst>
          </p:nvPr>
        </p:nvGraphicFramePr>
        <p:xfrm>
          <a:off x="3976539" y="3266671"/>
          <a:ext cx="4563975" cy="90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232446" imgH="648415" progId="Word.Picture.8">
                  <p:embed/>
                </p:oleObj>
              </mc:Choice>
              <mc:Fallback>
                <p:oleObj name="Picture" r:id="rId4" imgW="3232446" imgH="648415" progId="Word.Picture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539" y="3266671"/>
                        <a:ext cx="4563975" cy="9098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物件 33">
            <a:extLst>
              <a:ext uri="{FF2B5EF4-FFF2-40B4-BE49-F238E27FC236}">
                <a16:creationId xmlns:a16="http://schemas.microsoft.com/office/drawing/2014/main" id="{B34309E9-C02B-BF66-1901-60E2D46D25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232091"/>
              </p:ext>
            </p:extLst>
          </p:nvPr>
        </p:nvGraphicFramePr>
        <p:xfrm>
          <a:off x="3976539" y="5038976"/>
          <a:ext cx="4573572" cy="793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3238860" imgH="560963" progId="Word.Picture.8">
                  <p:embed/>
                </p:oleObj>
              </mc:Choice>
              <mc:Fallback>
                <p:oleObj name="Picture" r:id="rId6" imgW="3238860" imgH="560963" progId="Word.Picture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539" y="5038976"/>
                        <a:ext cx="4573572" cy="7936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040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05BD4C-7196-C016-439A-4F5EE580D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判斷一元一次不等式的解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使用「代入」的方式驗算是否為不等式的解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例題：</a:t>
            </a:r>
            <a:endParaRPr lang="en-US" altLang="zh-TW" dirty="0"/>
          </a:p>
          <a:p>
            <a:pPr marL="0" indent="0" algn="ctr">
              <a:buNone/>
            </a:pPr>
            <a:r>
              <a:rPr lang="en-US" altLang="zh-TW" i="1" dirty="0"/>
              <a:t>x</a:t>
            </a:r>
            <a:r>
              <a:rPr lang="zh-TW" altLang="en-US" dirty="0"/>
              <a:t>＝</a:t>
            </a:r>
            <a:r>
              <a:rPr lang="en-US" altLang="zh-TW" dirty="0"/>
              <a:t>3</a:t>
            </a:r>
            <a:r>
              <a:rPr lang="zh-TW" altLang="en-US" dirty="0"/>
              <a:t>是不是不等式</a:t>
            </a:r>
            <a:r>
              <a:rPr lang="en-US" altLang="zh-TW" dirty="0"/>
              <a:t>2</a:t>
            </a:r>
            <a:r>
              <a:rPr lang="en-US" altLang="zh-TW" i="1" dirty="0"/>
              <a:t>x</a:t>
            </a:r>
            <a:r>
              <a:rPr lang="zh-TW" altLang="en-US" dirty="0"/>
              <a:t>＋</a:t>
            </a:r>
            <a:r>
              <a:rPr lang="en-US" altLang="zh-TW" dirty="0"/>
              <a:t>3</a:t>
            </a:r>
            <a:r>
              <a:rPr lang="zh-TW" altLang="en-US" dirty="0"/>
              <a:t>＞</a:t>
            </a:r>
            <a:r>
              <a:rPr lang="en-US" altLang="zh-TW" dirty="0"/>
              <a:t>5</a:t>
            </a:r>
            <a:r>
              <a:rPr lang="zh-TW" altLang="en-US" dirty="0"/>
              <a:t>的解？</a:t>
            </a:r>
          </a:p>
          <a:p>
            <a:pPr marL="0" indent="0" algn="ctr">
              <a:buNone/>
            </a:pPr>
            <a:r>
              <a:rPr lang="en-US" altLang="zh-TW" i="1" dirty="0"/>
              <a:t>x</a:t>
            </a:r>
            <a:r>
              <a:rPr lang="zh-TW" altLang="en-US" dirty="0"/>
              <a:t>＝</a:t>
            </a:r>
            <a:r>
              <a:rPr lang="en-US" altLang="zh-TW" dirty="0"/>
              <a:t>3</a:t>
            </a:r>
            <a:r>
              <a:rPr lang="zh-TW" altLang="en-US" dirty="0"/>
              <a:t>代入得</a:t>
            </a:r>
            <a:r>
              <a:rPr lang="en-US" altLang="zh-TW" dirty="0"/>
              <a:t>2×3</a:t>
            </a:r>
            <a:r>
              <a:rPr lang="zh-TW" altLang="en-US" dirty="0"/>
              <a:t>＋</a:t>
            </a:r>
            <a:r>
              <a:rPr lang="en-US" altLang="zh-TW" dirty="0"/>
              <a:t>3</a:t>
            </a:r>
            <a:r>
              <a:rPr lang="zh-TW" altLang="en-US" dirty="0"/>
              <a:t>＝</a:t>
            </a:r>
            <a:r>
              <a:rPr lang="en-US" altLang="zh-TW" dirty="0"/>
              <a:t>9</a:t>
            </a:r>
            <a:r>
              <a:rPr lang="zh-TW" altLang="en-US" dirty="0"/>
              <a:t>＞</a:t>
            </a:r>
            <a:r>
              <a:rPr lang="en-US" altLang="zh-TW" dirty="0"/>
              <a:t>5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成立</a:t>
            </a:r>
            <a:r>
              <a:rPr lang="en-US" altLang="zh-TW" dirty="0"/>
              <a:t>)</a:t>
            </a: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130EEC2A-D227-E9D4-879B-E6DFFD30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23837"/>
            <a:ext cx="3435926" cy="4601183"/>
          </a:xfrm>
        </p:spPr>
        <p:txBody>
          <a:bodyPr/>
          <a:lstStyle/>
          <a:p>
            <a:r>
              <a:rPr lang="en-US" altLang="zh-TW" dirty="0"/>
              <a:t>4-1</a:t>
            </a:r>
            <a:br>
              <a:rPr lang="en-US" altLang="zh-TW" dirty="0"/>
            </a:br>
            <a:r>
              <a:rPr lang="zh-TW" altLang="en-US" dirty="0"/>
              <a:t>一元一次不等式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F87AAE5-69D9-5E37-1B05-3E5F2A2035BC}"/>
              </a:ext>
            </a:extLst>
          </p:cNvPr>
          <p:cNvSpPr/>
          <p:nvPr/>
        </p:nvSpPr>
        <p:spPr>
          <a:xfrm>
            <a:off x="3962400" y="4724467"/>
            <a:ext cx="7222068" cy="10005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注意：在沒有其他條件的限制下，一元一次不等式的解通常</a:t>
            </a:r>
            <a:r>
              <a:rPr lang="zh-TW" altLang="en-US" sz="22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不只一個</a:t>
            </a:r>
            <a:r>
              <a:rPr lang="zh-TW" altLang="en-US" sz="220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762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1ACB59-AF09-6488-D401-BF7511A30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解一元一次不等式 </a:t>
            </a:r>
            <a:r>
              <a:rPr lang="en-US" altLang="zh-TW" dirty="0"/>
              <a:t>&amp;</a:t>
            </a:r>
            <a:r>
              <a:rPr lang="zh-TW" altLang="en-US" dirty="0"/>
              <a:t> 換方向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解題方法和一元一次方程式相同，都有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「</a:t>
            </a:r>
            <a:r>
              <a:rPr lang="zh-TW" altLang="en-US" b="1" dirty="0">
                <a:solidFill>
                  <a:srgbClr val="FF0000"/>
                </a:solidFill>
              </a:rPr>
              <a:t>等量公理</a:t>
            </a:r>
            <a:r>
              <a:rPr lang="zh-TW" altLang="en-US" dirty="0"/>
              <a:t>」和「</a:t>
            </a:r>
            <a:r>
              <a:rPr lang="zh-TW" altLang="en-US" b="1" dirty="0">
                <a:solidFill>
                  <a:srgbClr val="FF0000"/>
                </a:solidFill>
              </a:rPr>
              <a:t>移項法則</a:t>
            </a:r>
            <a:r>
              <a:rPr lang="zh-TW" altLang="en-US" dirty="0"/>
              <a:t>」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只有在不等號的兩邊</a:t>
            </a:r>
            <a:r>
              <a:rPr lang="zh-TW" altLang="en-US" b="1" dirty="0">
                <a:solidFill>
                  <a:srgbClr val="FF0000"/>
                </a:solidFill>
              </a:rPr>
              <a:t>同乘或同除以一個負數</a:t>
            </a:r>
            <a:r>
              <a:rPr lang="zh-TW" altLang="en-US" dirty="0"/>
              <a:t>，其不等號的方向改變，也就是說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CDF5D02-B68D-06C9-E8E5-BABC35FBB6B2}"/>
              </a:ext>
            </a:extLst>
          </p:cNvPr>
          <p:cNvSpPr/>
          <p:nvPr/>
        </p:nvSpPr>
        <p:spPr>
          <a:xfrm>
            <a:off x="3962400" y="4100945"/>
            <a:ext cx="7222068" cy="16240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且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 </a:t>
            </a:r>
            <a:r>
              <a:rPr lang="en-US" altLang="zh-TW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，則：</a:t>
            </a:r>
          </a:p>
          <a:p>
            <a:pPr algn="ctr"/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⑴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</a:t>
            </a:r>
            <a:r>
              <a:rPr lang="zh-TW" altLang="en-US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 </a:t>
            </a:r>
            <a:r>
              <a:rPr lang="en-US" altLang="zh-TW" sz="2400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bc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	⑵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8ACA7656-3DDB-D818-EC77-B02A1D25D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altLang="zh-TW" dirty="0"/>
              <a:t>4-2</a:t>
            </a:r>
            <a:br>
              <a:rPr lang="en-US" altLang="zh-TW" dirty="0"/>
            </a:br>
            <a:r>
              <a:rPr lang="zh-TW" altLang="en-US" dirty="0"/>
              <a:t>解一元一次不等式</a:t>
            </a:r>
          </a:p>
        </p:txBody>
      </p:sp>
    </p:spTree>
    <p:extLst>
      <p:ext uri="{BB962C8B-B14F-4D97-AF65-F5344CB8AC3E}">
        <p14:creationId xmlns:p14="http://schemas.microsoft.com/office/powerpoint/2010/main" val="346651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04CF5-EE93-BF44-7FEE-81EDD6D4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4-2</a:t>
            </a:r>
            <a:br>
              <a:rPr lang="en-US" altLang="zh-TW" dirty="0"/>
            </a:br>
            <a:r>
              <a:rPr lang="zh-TW" altLang="en-US" dirty="0"/>
              <a:t>解一元一次不等式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6CC2F6-EA07-15DD-0FE1-423267C69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解一元一次不等式</a:t>
            </a:r>
            <a:r>
              <a:rPr lang="en-US" altLang="zh-TW" i="1" dirty="0"/>
              <a:t>x</a:t>
            </a:r>
            <a:r>
              <a:rPr lang="zh-TW" altLang="en-US" dirty="0"/>
              <a:t>－</a:t>
            </a:r>
            <a:r>
              <a:rPr lang="en-US" altLang="zh-TW" dirty="0"/>
              <a:t>3</a:t>
            </a:r>
            <a:r>
              <a:rPr lang="zh-TW" altLang="en-US" dirty="0"/>
              <a:t>＜</a:t>
            </a:r>
            <a:r>
              <a:rPr lang="en-US" altLang="zh-TW" dirty="0"/>
              <a:t>10</a:t>
            </a:r>
          </a:p>
          <a:p>
            <a:pPr marL="0" indent="0">
              <a:buNone/>
            </a:pPr>
            <a:r>
              <a:rPr lang="zh-TW" altLang="en-US" dirty="0"/>
              <a:t>解</a:t>
            </a:r>
            <a:r>
              <a:rPr lang="en-US" altLang="zh-TW" dirty="0"/>
              <a:t>1</a:t>
            </a:r>
            <a:r>
              <a:rPr lang="zh-TW" altLang="en-US" dirty="0"/>
              <a:t>        </a:t>
            </a:r>
            <a:r>
              <a:rPr lang="en-US" altLang="zh-TW" i="1" dirty="0"/>
              <a:t>x</a:t>
            </a:r>
            <a:r>
              <a:rPr lang="zh-TW" altLang="en-US" dirty="0"/>
              <a:t>－</a:t>
            </a:r>
            <a:r>
              <a:rPr lang="en-US" altLang="zh-TW" dirty="0"/>
              <a:t>3</a:t>
            </a:r>
            <a:r>
              <a:rPr lang="zh-TW" altLang="en-US" dirty="0"/>
              <a:t>＜</a:t>
            </a:r>
            <a:r>
              <a:rPr lang="en-US" altLang="zh-TW" dirty="0"/>
              <a:t>10</a:t>
            </a:r>
          </a:p>
          <a:p>
            <a:pPr marL="0" indent="0">
              <a:buNone/>
            </a:pPr>
            <a:r>
              <a:rPr lang="zh-TW" altLang="en-US" dirty="0"/>
              <a:t>        </a:t>
            </a:r>
            <a:r>
              <a:rPr lang="en-US" altLang="zh-TW" i="1" dirty="0"/>
              <a:t>x</a:t>
            </a:r>
            <a:r>
              <a:rPr lang="zh-TW" altLang="en-US" dirty="0"/>
              <a:t>－</a:t>
            </a:r>
            <a:r>
              <a:rPr lang="en-US" altLang="zh-TW" dirty="0"/>
              <a:t>3</a:t>
            </a:r>
            <a:r>
              <a:rPr lang="zh-TW" altLang="en-US" dirty="0"/>
              <a:t>＋</a:t>
            </a:r>
            <a:r>
              <a:rPr lang="en-US" altLang="zh-TW" dirty="0"/>
              <a:t>3</a:t>
            </a:r>
            <a:r>
              <a:rPr lang="zh-TW" altLang="en-US" dirty="0"/>
              <a:t>＜</a:t>
            </a:r>
            <a:r>
              <a:rPr lang="en-US" altLang="zh-TW" dirty="0"/>
              <a:t>10</a:t>
            </a:r>
            <a:r>
              <a:rPr lang="zh-TW" altLang="en-US" dirty="0"/>
              <a:t>＋</a:t>
            </a:r>
            <a:r>
              <a:rPr lang="en-US" altLang="zh-TW" dirty="0"/>
              <a:t>3</a:t>
            </a:r>
          </a:p>
          <a:p>
            <a:pPr marL="0" indent="0">
              <a:buNone/>
            </a:pPr>
            <a:r>
              <a:rPr lang="zh-TW" altLang="en-US" dirty="0"/>
              <a:t>　　　        </a:t>
            </a:r>
            <a:r>
              <a:rPr lang="en-US" altLang="zh-TW" i="1" dirty="0"/>
              <a:t>x</a:t>
            </a:r>
            <a:r>
              <a:rPr lang="zh-TW" altLang="en-US" dirty="0"/>
              <a:t>＜</a:t>
            </a:r>
            <a:r>
              <a:rPr lang="en-US" altLang="zh-TW" dirty="0"/>
              <a:t>13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解</a:t>
            </a:r>
            <a:r>
              <a:rPr lang="en-US" altLang="zh-TW" dirty="0"/>
              <a:t>2</a:t>
            </a:r>
            <a:endParaRPr lang="zh-TW" altLang="en-US" dirty="0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3EE0133-01DE-E31F-8585-39ED13BAB215}"/>
              </a:ext>
            </a:extLst>
          </p:cNvPr>
          <p:cNvGrpSpPr/>
          <p:nvPr/>
        </p:nvGrpSpPr>
        <p:grpSpPr>
          <a:xfrm>
            <a:off x="7526868" y="1592859"/>
            <a:ext cx="2966357" cy="1176298"/>
            <a:chOff x="7212693" y="1583334"/>
            <a:chExt cx="2966357" cy="1176298"/>
          </a:xfrm>
        </p:grpSpPr>
        <p:pic>
          <p:nvPicPr>
            <p:cNvPr id="6156" name="Picture 12">
              <a:extLst>
                <a:ext uri="{FF2B5EF4-FFF2-40B4-BE49-F238E27FC236}">
                  <a16:creationId xmlns:a16="http://schemas.microsoft.com/office/drawing/2014/main" id="{67C74680-52C5-3B00-2DB4-72F51745CB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2693" y="1583334"/>
              <a:ext cx="255691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A480B519-16E6-737F-F9EB-C4269AA79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6868" y="1660278"/>
              <a:ext cx="26521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2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不等號兩邊同時加</a:t>
              </a:r>
              <a:r>
                <a:rPr kumimoji="0" lang="en-US" altLang="zh-TW" sz="2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3</a:t>
              </a:r>
              <a:endPara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99B10DA2-8F5D-2DC2-71BE-DA049A848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6868" y="2282578"/>
              <a:ext cx="139427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2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化簡</a:t>
              </a:r>
              <a:endPara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9" name="Picture 12">
              <a:extLst>
                <a:ext uri="{FF2B5EF4-FFF2-40B4-BE49-F238E27FC236}">
                  <a16:creationId xmlns:a16="http://schemas.microsoft.com/office/drawing/2014/main" id="{0B9B418D-F7A9-ACC9-C15E-AA7B16BDAC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9827" y="2205634"/>
              <a:ext cx="255691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2" name="物件 21">
            <a:extLst>
              <a:ext uri="{FF2B5EF4-FFF2-40B4-BE49-F238E27FC236}">
                <a16:creationId xmlns:a16="http://schemas.microsoft.com/office/drawing/2014/main" id="{FDE92CEF-5882-44BB-F911-9BFBD08F1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666229"/>
              </p:ext>
            </p:extLst>
          </p:nvPr>
        </p:nvGraphicFramePr>
        <p:xfrm>
          <a:off x="5265738" y="3540125"/>
          <a:ext cx="706278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420720" imgH="1369800" progId="Word.Picture.8">
                  <p:embed/>
                </p:oleObj>
              </mc:Choice>
              <mc:Fallback>
                <p:oleObj name="Picture" r:id="rId3" imgW="3420720" imgH="1369800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3540125"/>
                        <a:ext cx="7062787" cy="2830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659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30D122-ADC0-412D-BE6F-FF1C2CD4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4-2</a:t>
            </a:r>
            <a:br>
              <a:rPr lang="en-US" altLang="zh-TW" dirty="0"/>
            </a:br>
            <a:r>
              <a:rPr lang="zh-TW" altLang="en-US" dirty="0"/>
              <a:t>解一元一次不等式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62ABCC-C4C2-3068-8BE5-D3DAE1537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解一元一次不等式的應用問題</a:t>
            </a:r>
          </a:p>
          <a:p>
            <a:pPr marL="0" indent="0">
              <a:buNone/>
            </a:pPr>
            <a:r>
              <a:rPr lang="en-US" altLang="zh-TW" dirty="0"/>
              <a:t>1. </a:t>
            </a:r>
            <a:r>
              <a:rPr lang="zh-TW" altLang="en-US" dirty="0"/>
              <a:t>仔細閱讀完整題目</a:t>
            </a:r>
          </a:p>
          <a:p>
            <a:pPr marL="0" indent="0">
              <a:buNone/>
            </a:pPr>
            <a:r>
              <a:rPr lang="en-US" altLang="zh-TW" dirty="0"/>
              <a:t>2. </a:t>
            </a:r>
            <a:r>
              <a:rPr lang="zh-TW" altLang="en-US" dirty="0"/>
              <a:t>假設未知數</a:t>
            </a:r>
          </a:p>
          <a:p>
            <a:pPr marL="0" indent="0">
              <a:buNone/>
            </a:pPr>
            <a:r>
              <a:rPr lang="en-US" altLang="zh-TW" dirty="0"/>
              <a:t>3. </a:t>
            </a:r>
            <a:r>
              <a:rPr lang="zh-TW" altLang="en-US" dirty="0"/>
              <a:t>設一元一次不等式</a:t>
            </a:r>
          </a:p>
          <a:p>
            <a:pPr marL="0" indent="0">
              <a:buNone/>
            </a:pPr>
            <a:r>
              <a:rPr lang="en-US" altLang="zh-TW" dirty="0"/>
              <a:t>4. </a:t>
            </a:r>
            <a:r>
              <a:rPr lang="zh-TW" altLang="en-US" dirty="0"/>
              <a:t>解一元一次不等式</a:t>
            </a:r>
          </a:p>
          <a:p>
            <a:pPr marL="0" indent="0">
              <a:buNone/>
            </a:pPr>
            <a:r>
              <a:rPr lang="en-US" altLang="zh-TW" dirty="0"/>
              <a:t>5. </a:t>
            </a:r>
            <a:r>
              <a:rPr lang="zh-TW" altLang="en-US" dirty="0"/>
              <a:t>寫答 </a:t>
            </a:r>
            <a:r>
              <a:rPr lang="en-US" altLang="zh-TW" dirty="0"/>
              <a:t>(</a:t>
            </a:r>
            <a:r>
              <a:rPr lang="zh-TW" altLang="en-US" dirty="0"/>
              <a:t>注意是否需要變成整數 </a:t>
            </a:r>
            <a:r>
              <a:rPr lang="en-US" altLang="zh-TW" dirty="0"/>
              <a:t>&amp;</a:t>
            </a:r>
            <a:r>
              <a:rPr lang="zh-TW" altLang="en-US" dirty="0"/>
              <a:t> 寫單位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6. </a:t>
            </a:r>
            <a:r>
              <a:rPr lang="zh-TW" altLang="en-US" dirty="0"/>
              <a:t>驗算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568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0"/>
                            </p:stCondLst>
                            <p:childTnLst>
                              <p:par>
                                <p:cTn id="90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EA3CB3-6FD6-7C3D-4D20-C54BB759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A1FAEB-77EF-A7F2-69C8-35AF2ABF4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zh-TW" altLang="en-US" dirty="0"/>
              <a:t>次數分配表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依據資料出現次數進行記錄的表，通常會使用</a:t>
            </a:r>
            <a:r>
              <a:rPr lang="zh-TW" altLang="en-US" b="1" dirty="0">
                <a:solidFill>
                  <a:srgbClr val="FF0000"/>
                </a:solidFill>
              </a:rPr>
              <a:t>正</a:t>
            </a:r>
            <a:r>
              <a:rPr lang="zh-TW" altLang="en-US" dirty="0"/>
              <a:t>字符號進行劃記，最後寫成</a:t>
            </a:r>
            <a:r>
              <a:rPr lang="zh-TW" altLang="en-US" b="1" dirty="0">
                <a:solidFill>
                  <a:srgbClr val="FF0000"/>
                </a:solidFill>
              </a:rPr>
              <a:t>數字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分組劃記時，會將數值往</a:t>
            </a:r>
            <a:r>
              <a:rPr lang="zh-TW" altLang="en-US" b="1" dirty="0">
                <a:solidFill>
                  <a:srgbClr val="FF0000"/>
                </a:solidFill>
              </a:rPr>
              <a:t>高</a:t>
            </a:r>
            <a:r>
              <a:rPr lang="zh-TW" altLang="en-US" dirty="0"/>
              <a:t>的組放，例如：</a:t>
            </a:r>
            <a:endParaRPr lang="en-US" altLang="zh-TW" dirty="0"/>
          </a:p>
          <a:p>
            <a:pPr marL="0" indent="0" algn="ctr">
              <a:buNone/>
            </a:pPr>
            <a:r>
              <a:rPr lang="en-US" altLang="zh-TW" dirty="0"/>
              <a:t>60</a:t>
            </a:r>
            <a:r>
              <a:rPr lang="zh-TW" altLang="en-US" dirty="0"/>
              <a:t>會記錄在</a:t>
            </a:r>
            <a:r>
              <a:rPr lang="en-US" altLang="zh-TW" dirty="0"/>
              <a:t>60</a:t>
            </a:r>
            <a:r>
              <a:rPr lang="zh-TW" altLang="en-US" dirty="0"/>
              <a:t>～</a:t>
            </a:r>
            <a:r>
              <a:rPr lang="en-US" altLang="zh-TW" dirty="0"/>
              <a:t>70</a:t>
            </a:r>
            <a:r>
              <a:rPr lang="zh-TW" altLang="en-US" dirty="0"/>
              <a:t>這一組，而非</a:t>
            </a:r>
            <a:r>
              <a:rPr lang="en-US" altLang="zh-TW" dirty="0"/>
              <a:t>50</a:t>
            </a:r>
            <a:r>
              <a:rPr lang="zh-TW" altLang="en-US" dirty="0"/>
              <a:t>～</a:t>
            </a:r>
            <a:r>
              <a:rPr lang="en-US" altLang="zh-TW" dirty="0"/>
              <a:t>60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indent="0" algn="just">
              <a:buNone/>
            </a:pPr>
            <a:r>
              <a:rPr lang="zh-TW" altLang="en-US" dirty="0"/>
              <a:t>最高數值是例外，例如：</a:t>
            </a:r>
            <a:endParaRPr lang="en-US" altLang="zh-TW" dirty="0"/>
          </a:p>
          <a:p>
            <a:pPr marL="0" indent="0" algn="ctr">
              <a:buNone/>
            </a:pPr>
            <a:r>
              <a:rPr lang="zh-TW" altLang="en-US" dirty="0"/>
              <a:t>最大的組別為</a:t>
            </a:r>
            <a:r>
              <a:rPr lang="en-US" altLang="zh-TW" dirty="0"/>
              <a:t>90</a:t>
            </a:r>
            <a:r>
              <a:rPr lang="zh-TW" altLang="en-US" dirty="0"/>
              <a:t>～</a:t>
            </a:r>
            <a:r>
              <a:rPr lang="en-US" altLang="zh-TW" dirty="0"/>
              <a:t>100</a:t>
            </a:r>
            <a:r>
              <a:rPr lang="zh-TW" altLang="en-US" dirty="0"/>
              <a:t>，</a:t>
            </a:r>
            <a:r>
              <a:rPr lang="en-US" altLang="zh-TW" dirty="0"/>
              <a:t>100</a:t>
            </a:r>
            <a:r>
              <a:rPr lang="zh-TW" altLang="en-US" dirty="0"/>
              <a:t>會在這一組。</a:t>
            </a:r>
            <a:endParaRPr lang="en-US" altLang="zh-TW" dirty="0"/>
          </a:p>
          <a:p>
            <a:pPr marL="0" indent="0" algn="ctr">
              <a:buNone/>
            </a:pPr>
            <a:endParaRPr lang="en-US" altLang="zh-TW" dirty="0"/>
          </a:p>
          <a:p>
            <a:pPr marL="0" indent="0" algn="just">
              <a:buNone/>
            </a:pPr>
            <a:r>
              <a:rPr lang="zh-TW" altLang="en-US" dirty="0"/>
              <a:t>最下面會寫「</a:t>
            </a:r>
            <a:r>
              <a:rPr lang="zh-TW" altLang="en-US" b="1" dirty="0">
                <a:solidFill>
                  <a:srgbClr val="FF0000"/>
                </a:solidFill>
              </a:rPr>
              <a:t>合計</a:t>
            </a:r>
            <a:r>
              <a:rPr lang="zh-TW" altLang="en-US" dirty="0"/>
              <a:t>」，計算總數值。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97237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EA3CB3-6FD6-7C3D-4D20-C54BB759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A1FAEB-77EF-A7F2-69C8-35AF2ABF4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次數分配表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例題：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由左邊的</a:t>
            </a:r>
            <a:r>
              <a:rPr lang="zh-TW" altLang="en-US" b="1" dirty="0"/>
              <a:t>七年 </a:t>
            </a:r>
            <a:r>
              <a:rPr lang="en-US" altLang="zh-TW" b="1" dirty="0"/>
              <a:t>1 </a:t>
            </a:r>
            <a:r>
              <a:rPr lang="zh-TW" altLang="en-US" b="1" dirty="0"/>
              <a:t>班數學小考分數登記表</a:t>
            </a:r>
            <a:r>
              <a:rPr lang="zh-TW" altLang="en-US" dirty="0"/>
              <a:t>，我們可以寫出右邊的</a:t>
            </a:r>
            <a:r>
              <a:rPr lang="zh-TW" altLang="en-US" b="1" dirty="0"/>
              <a:t>七年 </a:t>
            </a:r>
            <a:r>
              <a:rPr lang="en-US" altLang="zh-TW" b="1" dirty="0"/>
              <a:t>1 </a:t>
            </a:r>
            <a:r>
              <a:rPr lang="zh-TW" altLang="en-US" b="1" dirty="0"/>
              <a:t>班數學小考分數次數分配表</a:t>
            </a:r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6F1026-4672-0771-E373-85A2929B1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801423"/>
              </p:ext>
            </p:extLst>
          </p:nvPr>
        </p:nvGraphicFramePr>
        <p:xfrm>
          <a:off x="3482340" y="3585369"/>
          <a:ext cx="5227320" cy="1639824"/>
        </p:xfrm>
        <a:graphic>
          <a:graphicData uri="http://schemas.openxmlformats.org/drawingml/2006/table">
            <a:tbl>
              <a:tblPr/>
              <a:tblGrid>
                <a:gridCol w="474980">
                  <a:extLst>
                    <a:ext uri="{9D8B030D-6E8A-4147-A177-3AD203B41FA5}">
                      <a16:colId xmlns:a16="http://schemas.microsoft.com/office/drawing/2014/main" val="3287808417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122603840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3591021148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30860105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72605525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489574517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39950603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3917478747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3578621572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622128408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651381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座號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3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6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69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分數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89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46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52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座號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12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13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16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17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18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19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223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分數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48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56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66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89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64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633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座號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21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22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23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 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 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 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 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3175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 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3175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83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分數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76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100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65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54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351369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1203865A-3916-E0D0-C054-5DAC7B50E9BB}"/>
              </a:ext>
            </a:extLst>
          </p:cNvPr>
          <p:cNvSpPr txBox="1"/>
          <p:nvPr/>
        </p:nvSpPr>
        <p:spPr>
          <a:xfrm>
            <a:off x="3923770" y="3142544"/>
            <a:ext cx="4344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七年</a:t>
            </a:r>
            <a:r>
              <a:rPr lang="zh-TW" altLang="zh-TW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dirty="0">
                <a:effectLst/>
                <a:ea typeface="Times New Roman" panose="02020603050405020304" pitchFamily="18" charset="0"/>
              </a:rPr>
              <a:t>1 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班數學小考分數登記表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(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滿分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100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分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)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A8B8F15-479B-D88C-12E8-ECC2D24E2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566291"/>
              </p:ext>
            </p:extLst>
          </p:nvPr>
        </p:nvGraphicFramePr>
        <p:xfrm>
          <a:off x="9089220" y="3566883"/>
          <a:ext cx="2592070" cy="2334768"/>
        </p:xfrm>
        <a:graphic>
          <a:graphicData uri="http://schemas.openxmlformats.org/drawingml/2006/table">
            <a:tbl>
              <a:tblPr/>
              <a:tblGrid>
                <a:gridCol w="864235">
                  <a:extLst>
                    <a:ext uri="{9D8B030D-6E8A-4147-A177-3AD203B41FA5}">
                      <a16:colId xmlns:a16="http://schemas.microsoft.com/office/drawing/2014/main" val="319328562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1804348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4092280637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分數(分)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計數符號欄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次數(人)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25791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40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Cambria Math" panose="02040503050406030204" pitchFamily="18" charset="0"/>
                        </a:rPr>
                        <a:t>～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50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just" fontAlgn="ctr" hangingPunct="0">
                        <a:lnSpc>
                          <a:spcPct val="12000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細明體" panose="02020509000000000000" pitchFamily="49" charset="-120"/>
                        <a:cs typeface="a-明體W5+times"/>
                      </a:endParaRPr>
                    </a:p>
                  </a:txBody>
                  <a:tcPr marL="107950" marR="10795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  <a:cs typeface="a-明體W5+times"/>
                        </a:rPr>
                        <a:t>3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92421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50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Cambria Math" panose="02040503050406030204" pitchFamily="18" charset="0"/>
                        </a:rPr>
                        <a:t>～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60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just" fontAlgn="ctr" hangingPunct="0">
                        <a:lnSpc>
                          <a:spcPct val="120000"/>
                        </a:lnSpc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細明體" panose="02020509000000000000" pitchFamily="49" charset="-120"/>
                        <a:cs typeface="a-明體W5+times"/>
                      </a:endParaRPr>
                    </a:p>
                  </a:txBody>
                  <a:tcPr marL="107950" marR="10795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  <a:cs typeface="a-明體W5+times"/>
                        </a:rPr>
                        <a:t>2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56077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60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Cambria Math" panose="02040503050406030204" pitchFamily="18" charset="0"/>
                        </a:rPr>
                        <a:t>～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just" fontAlgn="ctr" hangingPunct="0">
                        <a:lnSpc>
                          <a:spcPct val="120000"/>
                        </a:lnSpc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細明體" panose="02020509000000000000" pitchFamily="49" charset="-120"/>
                        <a:cs typeface="a-明體W5+times"/>
                      </a:endParaRPr>
                    </a:p>
                  </a:txBody>
                  <a:tcPr marL="107950" marR="10795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  <a:cs typeface="a-明體W5+times"/>
                        </a:rPr>
                        <a:t>3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2007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70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Cambria Math" panose="02040503050406030204" pitchFamily="18" charset="0"/>
                        </a:rPr>
                        <a:t>～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just" fontAlgn="ctr" hangingPunct="0">
                        <a:lnSpc>
                          <a:spcPct val="12000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細明體" panose="02020509000000000000" pitchFamily="49" charset="-120"/>
                        <a:cs typeface="a-明體W5+times"/>
                      </a:endParaRPr>
                    </a:p>
                  </a:txBody>
                  <a:tcPr marL="107950" marR="10795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  <a:cs typeface="a-明體W5+times"/>
                        </a:rPr>
                        <a:t>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13274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80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Cambria Math" panose="02040503050406030204" pitchFamily="18" charset="0"/>
                        </a:rPr>
                        <a:t>～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just" fontAlgn="ctr" hangingPunct="0">
                        <a:lnSpc>
                          <a:spcPct val="12000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細明體" panose="02020509000000000000" pitchFamily="49" charset="-120"/>
                        <a:cs typeface="a-明體W5+times"/>
                      </a:endParaRPr>
                    </a:p>
                  </a:txBody>
                  <a:tcPr marL="107950" marR="10795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  <a:cs typeface="a-明體W5+times"/>
                        </a:rPr>
                        <a:t>7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02565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90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Cambria Math" panose="02040503050406030204" pitchFamily="18" charset="0"/>
                        </a:rPr>
                        <a:t>～</a:t>
                      </a: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100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just" fontAlgn="ctr" hangingPunct="0">
                        <a:lnSpc>
                          <a:spcPct val="12000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細明體" panose="02020509000000000000" pitchFamily="49" charset="-120"/>
                        <a:cs typeface="a-明體W5+times"/>
                      </a:endParaRPr>
                    </a:p>
                  </a:txBody>
                  <a:tcPr marL="107950" marR="10795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  <a:cs typeface="a-明體W5+times"/>
                        </a:rPr>
                        <a:t>6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3222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合　計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just" hangingPunct="0">
                        <a:lnSpc>
                          <a:spcPct val="120000"/>
                        </a:lnSpc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</a:rPr>
                        <a:t> 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7950" marR="10795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BlToTr w="3175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fontAlgn="ctr" hangingPunct="0">
                        <a:lnSpc>
                          <a:spcPct val="120000"/>
                        </a:lnSpc>
                      </a:pPr>
                      <a:r>
                        <a:rPr lang="zh-TW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細明體" panose="02020509000000000000" pitchFamily="49" charset="-120"/>
                          <a:cs typeface="a-明體W5+times"/>
                        </a:rPr>
                        <a:t>25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36195" marB="36195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636625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4F6AEC8C-C645-EC4F-2327-BF2C35B29053}"/>
              </a:ext>
            </a:extLst>
          </p:cNvPr>
          <p:cNvGrpSpPr/>
          <p:nvPr/>
        </p:nvGrpSpPr>
        <p:grpSpPr>
          <a:xfrm>
            <a:off x="10010500" y="3962607"/>
            <a:ext cx="346180" cy="1581420"/>
            <a:chOff x="9987386" y="2592546"/>
            <a:chExt cx="346180" cy="1581420"/>
          </a:xfrm>
        </p:grpSpPr>
        <p:pic>
          <p:nvPicPr>
            <p:cNvPr id="8208" name="Picture 16">
              <a:extLst>
                <a:ext uri="{FF2B5EF4-FFF2-40B4-BE49-F238E27FC236}">
                  <a16:creationId xmlns:a16="http://schemas.microsoft.com/office/drawing/2014/main" id="{82A2A567-1B12-5AD9-7394-CEB81CED6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1674" y="3179826"/>
              <a:ext cx="133350" cy="11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7" name="Picture 15">
              <a:extLst>
                <a:ext uri="{FF2B5EF4-FFF2-40B4-BE49-F238E27FC236}">
                  <a16:creationId xmlns:a16="http://schemas.microsoft.com/office/drawing/2014/main" id="{2D17B5DD-BE4F-60A6-3906-C49ECB1C9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8363" y="3767106"/>
              <a:ext cx="133350" cy="11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6" name="圖片 88">
              <a:extLst>
                <a:ext uri="{FF2B5EF4-FFF2-40B4-BE49-F238E27FC236}">
                  <a16:creationId xmlns:a16="http://schemas.microsoft.com/office/drawing/2014/main" id="{35F1A661-85F0-66CE-EE79-EC2AE2EDF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1674" y="2592546"/>
              <a:ext cx="133350" cy="11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5" name="圖片 100">
              <a:extLst>
                <a:ext uri="{FF2B5EF4-FFF2-40B4-BE49-F238E27FC236}">
                  <a16:creationId xmlns:a16="http://schemas.microsoft.com/office/drawing/2014/main" id="{75DE912C-AACB-D491-062E-94044473E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7386" y="3463941"/>
              <a:ext cx="161925" cy="133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4" name="Picture 12">
              <a:extLst>
                <a:ext uri="{FF2B5EF4-FFF2-40B4-BE49-F238E27FC236}">
                  <a16:creationId xmlns:a16="http://schemas.microsoft.com/office/drawing/2014/main" id="{3ED7E32B-3AC6-E93E-60E1-DC93D697B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1673" y="3767106"/>
              <a:ext cx="133350" cy="123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3" name="圖片 91">
              <a:extLst>
                <a:ext uri="{FF2B5EF4-FFF2-40B4-BE49-F238E27FC236}">
                  <a16:creationId xmlns:a16="http://schemas.microsoft.com/office/drawing/2014/main" id="{625AC3B9-E25A-9C80-7197-A79DE09C56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3791" y="2905236"/>
              <a:ext cx="133350" cy="11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2" name="圖片 81">
              <a:extLst>
                <a:ext uri="{FF2B5EF4-FFF2-40B4-BE49-F238E27FC236}">
                  <a16:creationId xmlns:a16="http://schemas.microsoft.com/office/drawing/2014/main" id="{2955745C-5ACC-23EE-F73C-D9BCE8135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1673" y="4050141"/>
              <a:ext cx="133350" cy="123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1" name="圖片 80">
              <a:extLst>
                <a:ext uri="{FF2B5EF4-FFF2-40B4-BE49-F238E27FC236}">
                  <a16:creationId xmlns:a16="http://schemas.microsoft.com/office/drawing/2014/main" id="{F26488FC-67F9-6743-6736-4D7DC95D7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0216" y="4045378"/>
              <a:ext cx="133350" cy="123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150951-2088-B457-19C9-3101466840E5}"/>
              </a:ext>
            </a:extLst>
          </p:cNvPr>
          <p:cNvSpPr txBox="1"/>
          <p:nvPr/>
        </p:nvSpPr>
        <p:spPr>
          <a:xfrm>
            <a:off x="8578510" y="3122478"/>
            <a:ext cx="3613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七年</a:t>
            </a:r>
            <a:r>
              <a:rPr lang="zh-TW" altLang="zh-TW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dirty="0">
                <a:effectLst/>
                <a:ea typeface="Times New Roman" panose="02020603050405020304" pitchFamily="18" charset="0"/>
              </a:rPr>
              <a:t>1 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班數學小考分數次數分配表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507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83FCF4-2444-64A9-FDE0-4130D96E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B3AA04-20A5-F074-E9C5-9302520ED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列聯表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一群資料按兩種不同屬性分類，為表達之間相互關係所製成的表格。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最下面與最右邊會寫「</a:t>
            </a:r>
            <a:r>
              <a:rPr lang="zh-TW" altLang="en-US" b="1" dirty="0">
                <a:solidFill>
                  <a:srgbClr val="FF0000"/>
                </a:solidFill>
              </a:rPr>
              <a:t>合計</a:t>
            </a:r>
            <a:r>
              <a:rPr lang="zh-TW" altLang="en-US" dirty="0"/>
              <a:t>」，計算總數值。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007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EF1CB6-59B0-306C-59FC-129C07AA3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B9022-F60C-12AE-CDD2-118044AC3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列聯表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例題：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步驟</a:t>
            </a:r>
            <a:r>
              <a:rPr lang="en-US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  <a:r>
              <a:rPr lang="zh-TW" altLang="en-US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分類方式</a:t>
            </a:r>
            <a:endParaRPr lang="zh-TW" altLang="zh-TW" sz="1800" dirty="0"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步驟</a:t>
            </a:r>
            <a:r>
              <a:rPr lang="en-US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zh-TW" altLang="en-US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每一欄最下方及</a:t>
            </a:r>
            <a:endParaRPr lang="en-US" altLang="zh-TW" sz="1800" b="1" dirty="0">
              <a:solidFill>
                <a:srgbClr val="EF8454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zh-TW" altLang="en-US" sz="1800" b="1" dirty="0">
                <a:solidFill>
                  <a:srgbClr val="EF8454"/>
                </a:solidFill>
                <a:ea typeface="新細明體" panose="02020500000000000000" pitchFamily="18" charset="-120"/>
              </a:rPr>
              <a:t>           </a:t>
            </a: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每一列最右方為合計</a:t>
            </a:r>
            <a:endParaRPr lang="zh-TW" altLang="zh-TW" sz="1800" dirty="0"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步驟</a:t>
            </a:r>
            <a:r>
              <a:rPr lang="en-US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zh-TW" altLang="en-US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表格的右下角為總計</a:t>
            </a:r>
            <a:endParaRPr lang="zh-TW" altLang="zh-TW" sz="1800" dirty="0"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步驟</a:t>
            </a:r>
            <a:r>
              <a:rPr lang="en-US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r>
              <a:rPr lang="zh-TW" altLang="en-US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zh-TW" altLang="en-US" sz="1800" b="1" dirty="0">
                <a:solidFill>
                  <a:srgbClr val="EF8454"/>
                </a:solidFill>
                <a:ea typeface="新細明體" panose="02020500000000000000" pitchFamily="18" charset="-120"/>
              </a:rPr>
              <a:t>依照資料值填入</a:t>
            </a:r>
            <a:r>
              <a:rPr lang="zh-TW" altLang="zh-TW" sz="1800" b="1" dirty="0">
                <a:solidFill>
                  <a:srgbClr val="EF8454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列聯表</a:t>
            </a:r>
            <a:endParaRPr lang="zh-TW" altLang="zh-TW" sz="1800" dirty="0"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081373-558A-24C2-C65B-C757B5C8B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8475" y="1123837"/>
            <a:ext cx="4620334" cy="135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A738B635-8093-0596-F570-772E23DB6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001011"/>
              </p:ext>
            </p:extLst>
          </p:nvPr>
        </p:nvGraphicFramePr>
        <p:xfrm>
          <a:off x="7013575" y="2565400"/>
          <a:ext cx="4822825" cy="363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179863" imgH="1637213" progId="Word.Document.12">
                  <p:embed/>
                </p:oleObj>
              </mc:Choice>
              <mc:Fallback>
                <p:oleObj name="Document" r:id="rId3" imgW="2179863" imgH="1637213" progId="Word.Document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575" y="2565400"/>
                        <a:ext cx="4822825" cy="3630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8892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A79E8-4EDE-C768-B906-C2D914D0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4509DD-E680-8FD2-349E-2B3FBA89D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長條圖 </a:t>
            </a:r>
            <a:r>
              <a:rPr lang="en-US" altLang="zh-TW" dirty="0"/>
              <a:t>vs. </a:t>
            </a:r>
            <a:r>
              <a:rPr lang="zh-TW" altLang="en-US" dirty="0"/>
              <a:t>直方圖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簡單來說，長條圖用於</a:t>
            </a:r>
            <a:r>
              <a:rPr lang="zh-TW" altLang="en-US" b="1" dirty="0">
                <a:solidFill>
                  <a:srgbClr val="FF0000"/>
                </a:solidFill>
              </a:rPr>
              <a:t>單一</a:t>
            </a:r>
            <a:r>
              <a:rPr lang="zh-TW" altLang="en-US" dirty="0"/>
              <a:t>項目；直方圖用於描述資料分組</a:t>
            </a:r>
            <a:r>
              <a:rPr lang="zh-TW" altLang="en-US" b="1" dirty="0">
                <a:solidFill>
                  <a:srgbClr val="FF0000"/>
                </a:solidFill>
              </a:rPr>
              <a:t>區間</a:t>
            </a:r>
            <a:endParaRPr lang="zh-TW" altLang="en-US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AD2AF168-A8D6-4941-5317-1784B2D901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917582"/>
              </p:ext>
            </p:extLst>
          </p:nvPr>
        </p:nvGraphicFramePr>
        <p:xfrm>
          <a:off x="3592773" y="1533525"/>
          <a:ext cx="7951527" cy="2997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99555" imgH="2185204" progId="Word.Document.12">
                  <p:embed/>
                </p:oleObj>
              </mc:Choice>
              <mc:Fallback>
                <p:oleObj name="Document" r:id="rId2" imgW="5799555" imgH="21852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92773" y="1533525"/>
                        <a:ext cx="7951527" cy="2997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667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989357" cy="5120640"/>
          </a:xfrm>
        </p:spPr>
        <p:txBody>
          <a:bodyPr anchor="t"/>
          <a:lstStyle/>
          <a:p>
            <a:r>
              <a:rPr lang="zh-TW" altLang="en-US" dirty="0"/>
              <a:t>折線圖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折線圖顯示資料的高低變化與分布情形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繪製分組後的次數分配折線圖畫在「</a:t>
            </a:r>
            <a:r>
              <a:rPr lang="zh-TW" altLang="en-US" b="1" dirty="0">
                <a:solidFill>
                  <a:srgbClr val="FF0000"/>
                </a:solidFill>
              </a:rPr>
              <a:t>組中點</a:t>
            </a:r>
            <a:r>
              <a:rPr lang="zh-TW" altLang="en-US" dirty="0"/>
              <a:t>」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7087DC36-880F-7534-2FFA-E4ABC8A703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864296"/>
              </p:ext>
            </p:extLst>
          </p:nvPr>
        </p:nvGraphicFramePr>
        <p:xfrm>
          <a:off x="3577317" y="2698623"/>
          <a:ext cx="8281307" cy="340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862228" imgH="2000208" progId="Word.Picture.8">
                  <p:embed/>
                </p:oleObj>
              </mc:Choice>
              <mc:Fallback>
                <p:oleObj name="Picture" r:id="rId2" imgW="4862228" imgH="2000208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317" y="2698623"/>
                        <a:ext cx="8281307" cy="3409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435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折線圖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折線圖也可以同時繪製多筆資料，通常以不同「</a:t>
            </a:r>
            <a:r>
              <a:rPr lang="zh-TW" altLang="en-US" b="1" dirty="0">
                <a:solidFill>
                  <a:srgbClr val="FF0000"/>
                </a:solidFill>
              </a:rPr>
              <a:t>顏色</a:t>
            </a:r>
            <a:r>
              <a:rPr lang="zh-TW" altLang="en-US" dirty="0"/>
              <a:t>」、不同「</a:t>
            </a:r>
            <a:r>
              <a:rPr lang="zh-TW" altLang="en-US" b="1" dirty="0">
                <a:solidFill>
                  <a:srgbClr val="FF0000"/>
                </a:solidFill>
              </a:rPr>
              <a:t>點形狀</a:t>
            </a:r>
            <a:r>
              <a:rPr lang="zh-TW" altLang="en-US" dirty="0"/>
              <a:t>」呈現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繪製多筆資料，要寫「</a:t>
            </a:r>
            <a:r>
              <a:rPr lang="zh-TW" altLang="en-US" b="1" dirty="0">
                <a:solidFill>
                  <a:srgbClr val="FF0000"/>
                </a:solidFill>
              </a:rPr>
              <a:t>圖例</a:t>
            </a:r>
            <a:r>
              <a:rPr lang="zh-TW" altLang="en-US" dirty="0"/>
              <a:t>」</a:t>
            </a: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0CAB70DC-6FEA-C172-BFED-AA6CA85FF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670743"/>
              </p:ext>
            </p:extLst>
          </p:nvPr>
        </p:nvGraphicFramePr>
        <p:xfrm>
          <a:off x="3750206" y="2917465"/>
          <a:ext cx="7553324" cy="3571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689011" imgH="1732280" progId="Word.Picture.8">
                  <p:embed/>
                </p:oleObj>
              </mc:Choice>
              <mc:Fallback>
                <p:oleObj name="Picture" r:id="rId2" imgW="3689011" imgH="173228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0206" y="2917465"/>
                        <a:ext cx="7553324" cy="35717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1103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圓形圖</a:t>
            </a:r>
          </a:p>
          <a:p>
            <a:pPr marL="0" indent="0">
              <a:buNone/>
            </a:pPr>
            <a:r>
              <a:rPr lang="zh-TW" altLang="en-US" dirty="0"/>
              <a:t>圓形圖用於表達全體中每一部分所占的分量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並將次數分配表新增「</a:t>
            </a:r>
            <a:r>
              <a:rPr lang="zh-TW" altLang="en-US" b="1" dirty="0">
                <a:solidFill>
                  <a:srgbClr val="FF0000"/>
                </a:solidFill>
              </a:rPr>
              <a:t>百分率</a:t>
            </a:r>
            <a:r>
              <a:rPr lang="zh-TW" altLang="en-US" dirty="0"/>
              <a:t>」，計算占比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繪製時要標明「</a:t>
            </a:r>
            <a:r>
              <a:rPr lang="zh-TW" altLang="en-US" b="1" dirty="0">
                <a:solidFill>
                  <a:srgbClr val="FF0000"/>
                </a:solidFill>
              </a:rPr>
              <a:t>項目</a:t>
            </a:r>
            <a:r>
              <a:rPr lang="zh-TW" altLang="en-US" dirty="0"/>
              <a:t>」及「</a:t>
            </a:r>
            <a:r>
              <a:rPr lang="zh-TW" altLang="en-US" b="1" dirty="0">
                <a:solidFill>
                  <a:srgbClr val="FF0000"/>
                </a:solidFill>
              </a:rPr>
              <a:t>百分率</a:t>
            </a:r>
            <a:r>
              <a:rPr lang="zh-TW" altLang="en-US" dirty="0"/>
              <a:t>」</a:t>
            </a: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CE6A7860-E183-3AE2-34A8-EC09B1C28D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914661"/>
              </p:ext>
            </p:extLst>
          </p:nvPr>
        </p:nvGraphicFramePr>
        <p:xfrm>
          <a:off x="3983568" y="3853464"/>
          <a:ext cx="4410075" cy="2709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785341" imgH="1711974" progId="Word.Document.12">
                  <p:embed/>
                </p:oleObj>
              </mc:Choice>
              <mc:Fallback>
                <p:oleObj name="Document" r:id="rId2" imgW="2785341" imgH="1711974" progId="Word.Document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568" y="3853464"/>
                        <a:ext cx="4410075" cy="27092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3401614A-C4B5-40F3-304E-09EDE2949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469379"/>
              </p:ext>
            </p:extLst>
          </p:nvPr>
        </p:nvGraphicFramePr>
        <p:xfrm>
          <a:off x="7917393" y="3443889"/>
          <a:ext cx="3722157" cy="3722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616403" imgH="1626070" progId="Word.Document.12">
                  <p:embed/>
                </p:oleObj>
              </mc:Choice>
              <mc:Fallback>
                <p:oleObj name="Document" r:id="rId4" imgW="1616403" imgH="1626070" progId="Word.Document.1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7393" y="3443889"/>
                        <a:ext cx="3722157" cy="37221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804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dirty="0"/>
              <a:t>平均數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將整群資料的總和平分給每筆資料，而每筆資料可以分得的數量。簡單來說，就是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平均數可能是小數或分數，但只有一個值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596FF4FE-2D8A-A807-577F-75EB5602D5BE}"/>
                  </a:ext>
                </a:extLst>
              </p:cNvPr>
              <p:cNvSpPr/>
              <p:nvPr/>
            </p:nvSpPr>
            <p:spPr>
              <a:xfrm>
                <a:off x="3962400" y="2862453"/>
                <a:ext cx="7222068" cy="1624075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zh-TW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個數值資料的平均數＝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400" b="0" i="1" smtClean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zh-TW" altLang="zh-TW" sz="24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個數值資料的總和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400" i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2400" i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zh-TW" altLang="zh-TW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zh-TW" altLang="en-US" sz="24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596FF4FE-2D8A-A807-577F-75EB5602D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862453"/>
                <a:ext cx="7222068" cy="16240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56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40692" y="868680"/>
                <a:ext cx="7951257" cy="5120640"/>
              </a:xfrm>
            </p:spPr>
            <p:txBody>
              <a:bodyPr anchor="t">
                <a:normAutofit/>
              </a:bodyPr>
              <a:lstStyle/>
              <a:p>
                <a:r>
                  <a:rPr lang="zh-TW" altLang="en-US" dirty="0"/>
                  <a:t>基準點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設立基準點可以減輕資料計算負擔。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例題：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設定基準點</a:t>
                </a:r>
                <a:r>
                  <a:rPr lang="en-US" altLang="zh-TW" dirty="0"/>
                  <a:t>90</a:t>
                </a:r>
                <a:r>
                  <a:rPr lang="zh-TW" altLang="en-US" dirty="0"/>
                  <a:t>分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要計算平均分數，可以先計算與基準點的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平均差異</a:t>
                </a:r>
                <a:r>
                  <a:rPr lang="zh-TW" altLang="en-US" dirty="0"/>
                  <a:t>，再加回基準點。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>
                    <a:effectLst/>
                    <a:ea typeface="新細明體" panose="02020500000000000000" pitchFamily="18" charset="-120"/>
                  </a:rPr>
                  <a:t>90</a:t>
                </a:r>
                <a:r>
                  <a:rPr lang="zh-TW" altLang="zh-TW" dirty="0">
                    <a:effectLst/>
                    <a:ea typeface="新細明體" panose="02020500000000000000" pitchFamily="18" charset="-120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zh-TW" altLang="zh-TW">
                            <a:effectLst/>
                            <a:ea typeface="新細明體" panose="02020500000000000000" pitchFamily="18" charset="-120"/>
                          </a:rPr>
                          <m:t>＋</m:t>
                        </m:r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zh-TW" altLang="zh-TW">
                            <a:effectLst/>
                            <a:ea typeface="新細明體" panose="02020500000000000000" pitchFamily="18" charset="-120"/>
                          </a:rPr>
                          <m:t>＋</m:t>
                        </m:r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TW" altLang="zh-TW">
                            <a:effectLst/>
                            <a:ea typeface="新細明體" panose="02020500000000000000" pitchFamily="18" charset="-120"/>
                          </a:rPr>
                          <m:t>－</m:t>
                        </m:r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2)</m:t>
                        </m:r>
                        <m:r>
                          <m:rPr>
                            <m:nor/>
                          </m:rPr>
                          <a:rPr lang="zh-TW" altLang="zh-TW">
                            <a:effectLst/>
                            <a:ea typeface="新細明體" panose="02020500000000000000" pitchFamily="18" charset="-120"/>
                          </a:rPr>
                          <m:t>＋</m:t>
                        </m:r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zh-TW" altLang="zh-TW">
                            <a:effectLst/>
                            <a:ea typeface="新細明體" panose="02020500000000000000" pitchFamily="18" charset="-120"/>
                          </a:rPr>
                          <m:t>＋</m:t>
                        </m:r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TW" altLang="zh-TW">
                            <a:effectLst/>
                            <a:ea typeface="新細明體" panose="02020500000000000000" pitchFamily="18" charset="-120"/>
                          </a:rPr>
                          <m:t>－</m:t>
                        </m:r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7)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新細明體" panose="02020500000000000000" pitchFamily="18" charset="-120"/>
                          </a:rPr>
                          <m:t>5</m:t>
                        </m:r>
                      </m:den>
                    </m:f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effectLst/>
                    <a:ea typeface="新細明體" panose="02020500000000000000" pitchFamily="18" charset="-120"/>
                  </a:rPr>
                  <a:t>   ← 和基準點平均差異</a:t>
                </a:r>
                <a:br>
                  <a:rPr lang="en-US" altLang="zh-TW" dirty="0">
                    <a:effectLst/>
                    <a:ea typeface="新細明體" panose="02020500000000000000" pitchFamily="18" charset="-120"/>
                  </a:rPr>
                </a:br>
                <a:r>
                  <a:rPr lang="zh-TW" altLang="zh-TW" dirty="0">
                    <a:effectLst/>
                    <a:ea typeface="新細明體" panose="02020500000000000000" pitchFamily="18" charset="-120"/>
                  </a:rPr>
                  <a:t>＝</a:t>
                </a:r>
                <a:r>
                  <a:rPr lang="en-US" altLang="zh-TW" dirty="0">
                    <a:effectLst/>
                    <a:ea typeface="新細明體" panose="02020500000000000000" pitchFamily="18" charset="-120"/>
                  </a:rPr>
                  <a:t>90</a:t>
                </a:r>
                <a:r>
                  <a:rPr lang="zh-TW" altLang="zh-TW" dirty="0">
                    <a:effectLst/>
                    <a:ea typeface="新細明體" panose="02020500000000000000" pitchFamily="18" charset="-120"/>
                  </a:rPr>
                  <a:t>＋</a:t>
                </a:r>
                <a:r>
                  <a:rPr lang="en-US" altLang="zh-TW" dirty="0">
                    <a:effectLst/>
                    <a:ea typeface="新細明體" panose="02020500000000000000" pitchFamily="18" charset="-120"/>
                  </a:rPr>
                  <a:t>0.6</a:t>
                </a:r>
                <a:r>
                  <a:rPr lang="zh-TW" altLang="en-US" dirty="0">
                    <a:solidFill>
                      <a:srgbClr val="FF0000"/>
                    </a:solidFill>
                    <a:ea typeface="新細明體" panose="02020500000000000000" pitchFamily="18" charset="-120"/>
                  </a:rPr>
                  <a:t>   ← 平均差 </a:t>
                </a:r>
                <a:r>
                  <a:rPr lang="en-US" altLang="zh-TW" dirty="0">
                    <a:solidFill>
                      <a:srgbClr val="FF0000"/>
                    </a:solidFill>
                    <a:ea typeface="新細明體" panose="02020500000000000000" pitchFamily="18" charset="-120"/>
                  </a:rPr>
                  <a:t>0.6</a:t>
                </a:r>
                <a:r>
                  <a:rPr lang="zh-TW" altLang="en-US" dirty="0">
                    <a:solidFill>
                      <a:srgbClr val="FF0000"/>
                    </a:solidFill>
                    <a:ea typeface="新細明體" panose="02020500000000000000" pitchFamily="18" charset="-120"/>
                  </a:rPr>
                  <a:t> 分</a:t>
                </a:r>
                <a:br>
                  <a:rPr lang="en-US" altLang="zh-TW" dirty="0">
                    <a:effectLst/>
                    <a:ea typeface="新細明體" panose="02020500000000000000" pitchFamily="18" charset="-120"/>
                  </a:rPr>
                </a:br>
                <a:r>
                  <a:rPr lang="zh-TW" altLang="zh-TW" dirty="0">
                    <a:effectLst/>
                    <a:ea typeface="新細明體" panose="02020500000000000000" pitchFamily="18" charset="-120"/>
                  </a:rPr>
                  <a:t>＝</a:t>
                </a:r>
                <a:r>
                  <a:rPr lang="en-US" altLang="zh-TW" dirty="0">
                    <a:effectLst/>
                    <a:ea typeface="新細明體" panose="02020500000000000000" pitchFamily="18" charset="-120"/>
                  </a:rPr>
                  <a:t>90.6</a:t>
                </a:r>
                <a:endParaRPr lang="zh-TW" altLang="en-US" sz="4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0692" y="868680"/>
                <a:ext cx="7951257" cy="5120640"/>
              </a:xfrm>
              <a:blipFill>
                <a:blip r:embed="rId2"/>
                <a:stretch>
                  <a:fillRect l="-1534" t="-2143" r="-13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4E1D1CD-91CE-E750-6386-3746F3F94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036193"/>
              </p:ext>
            </p:extLst>
          </p:nvPr>
        </p:nvGraphicFramePr>
        <p:xfrm>
          <a:off x="6508432" y="1953101"/>
          <a:ext cx="5207320" cy="923450"/>
        </p:xfrm>
        <a:graphic>
          <a:graphicData uri="http://schemas.openxmlformats.org/drawingml/2006/table">
            <a:tbl>
              <a:tblPr/>
              <a:tblGrid>
                <a:gridCol w="1856120">
                  <a:extLst>
                    <a:ext uri="{9D8B030D-6E8A-4147-A177-3AD203B41FA5}">
                      <a16:colId xmlns:a16="http://schemas.microsoft.com/office/drawing/2014/main" val="2560964903"/>
                    </a:ext>
                  </a:extLst>
                </a:gridCol>
                <a:gridCol w="670240">
                  <a:extLst>
                    <a:ext uri="{9D8B030D-6E8A-4147-A177-3AD203B41FA5}">
                      <a16:colId xmlns:a16="http://schemas.microsoft.com/office/drawing/2014/main" val="1426480419"/>
                    </a:ext>
                  </a:extLst>
                </a:gridCol>
                <a:gridCol w="670240">
                  <a:extLst>
                    <a:ext uri="{9D8B030D-6E8A-4147-A177-3AD203B41FA5}">
                      <a16:colId xmlns:a16="http://schemas.microsoft.com/office/drawing/2014/main" val="344412567"/>
                    </a:ext>
                  </a:extLst>
                </a:gridCol>
                <a:gridCol w="670240">
                  <a:extLst>
                    <a:ext uri="{9D8B030D-6E8A-4147-A177-3AD203B41FA5}">
                      <a16:colId xmlns:a16="http://schemas.microsoft.com/office/drawing/2014/main" val="172666601"/>
                    </a:ext>
                  </a:extLst>
                </a:gridCol>
                <a:gridCol w="670240">
                  <a:extLst>
                    <a:ext uri="{9D8B030D-6E8A-4147-A177-3AD203B41FA5}">
                      <a16:colId xmlns:a16="http://schemas.microsoft.com/office/drawing/2014/main" val="4004273934"/>
                    </a:ext>
                  </a:extLst>
                </a:gridCol>
                <a:gridCol w="670240">
                  <a:extLst>
                    <a:ext uri="{9D8B030D-6E8A-4147-A177-3AD203B41FA5}">
                      <a16:colId xmlns:a16="http://schemas.microsoft.com/office/drawing/2014/main" val="1513213811"/>
                    </a:ext>
                  </a:extLst>
                </a:gridCol>
              </a:tblGrid>
              <a:tr h="461725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科</a:t>
                      </a: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MS Mincho" panose="02020609040205080304" pitchFamily="49" charset="-128"/>
                        </a:rPr>
                        <a:t> </a:t>
                      </a: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目</a:t>
                      </a:r>
                      <a:endParaRPr lang="zh-TW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國文</a:t>
                      </a:r>
                      <a:endParaRPr lang="zh-TW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英語</a:t>
                      </a:r>
                      <a:endParaRPr lang="zh-TW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數學</a:t>
                      </a:r>
                      <a:endParaRPr lang="zh-TW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社會</a:t>
                      </a:r>
                      <a:endParaRPr lang="zh-TW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自然</a:t>
                      </a:r>
                      <a:endParaRPr lang="zh-TW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478367"/>
                  </a:ext>
                </a:extLst>
              </a:tr>
              <a:tr h="461725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與目標分數的差距</a:t>
                      </a:r>
                      <a:endParaRPr lang="zh-TW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＋3</a:t>
                      </a:r>
                      <a:endParaRPr lang="zh-TW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＋5</a:t>
                      </a:r>
                      <a:endParaRPr lang="zh-TW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－2</a:t>
                      </a:r>
                      <a:endParaRPr lang="zh-TW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＋4</a:t>
                      </a:r>
                      <a:endParaRPr lang="zh-TW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－7</a:t>
                      </a:r>
                      <a:endParaRPr lang="zh-TW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231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45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zh-TW" altLang="en-US" dirty="0"/>
                  <a:t>未分組資料的平均數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先計算各組數量，再計算總數後取平均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例題：每人平均閱讀幾本書？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zh-TW" dirty="0">
                    <a:effectLst/>
                    <a:ea typeface="+mj-ea"/>
                  </a:rPr>
                  <a:t>所以每人平均閱讀</a:t>
                </a:r>
                <a:r>
                  <a:rPr lang="zh-TW" altLang="en-US" dirty="0">
                    <a:effectLst/>
                    <a:ea typeface="+mj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閱讀數量</m:t>
                        </m:r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人數</m:t>
                        </m:r>
                      </m:den>
                    </m:f>
                    <m:r>
                      <m:rPr>
                        <m:nor/>
                      </m:rPr>
                      <a:rPr lang="zh-TW" altLang="zh-TW" dirty="0"/>
                      <m:t>＝</m:t>
                    </m:r>
                    <m:f>
                      <m:fPr>
                        <m:ctrlPr>
                          <a:rPr lang="zh-TW" altLang="zh-TW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+mj-ea"/>
                          </a:rPr>
                          <m:t>105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>
                            <a:effectLst/>
                            <a:ea typeface="+mj-ea"/>
                          </a:rPr>
                          <m:t>25</m:t>
                        </m:r>
                      </m:den>
                    </m:f>
                  </m:oMath>
                </a14:m>
                <a:r>
                  <a:rPr lang="zh-TW" altLang="zh-TW" dirty="0">
                    <a:effectLst/>
                    <a:ea typeface="+mj-ea"/>
                  </a:rPr>
                  <a:t>＝</a:t>
                </a:r>
                <a:r>
                  <a:rPr lang="en-US" altLang="zh-TW" dirty="0">
                    <a:effectLst/>
                    <a:ea typeface="+mj-ea"/>
                  </a:rPr>
                  <a:t>4.2</a:t>
                </a:r>
                <a:r>
                  <a:rPr lang="zh-TW" altLang="zh-TW" dirty="0">
                    <a:effectLst/>
                    <a:ea typeface="+mj-ea"/>
                  </a:rPr>
                  <a:t>本書</a:t>
                </a: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50" t="-2143" b="-2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63C7CE9-2B5F-86B7-E636-DF3BACABE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94524"/>
              </p:ext>
            </p:extLst>
          </p:nvPr>
        </p:nvGraphicFramePr>
        <p:xfrm>
          <a:off x="3952875" y="3009900"/>
          <a:ext cx="7829552" cy="2019299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1394777666"/>
                    </a:ext>
                  </a:extLst>
                </a:gridCol>
                <a:gridCol w="971358">
                  <a:extLst>
                    <a:ext uri="{9D8B030D-6E8A-4147-A177-3AD203B41FA5}">
                      <a16:colId xmlns:a16="http://schemas.microsoft.com/office/drawing/2014/main" val="1377155805"/>
                    </a:ext>
                  </a:extLst>
                </a:gridCol>
                <a:gridCol w="971358">
                  <a:extLst>
                    <a:ext uri="{9D8B030D-6E8A-4147-A177-3AD203B41FA5}">
                      <a16:colId xmlns:a16="http://schemas.microsoft.com/office/drawing/2014/main" val="4020939385"/>
                    </a:ext>
                  </a:extLst>
                </a:gridCol>
                <a:gridCol w="971358">
                  <a:extLst>
                    <a:ext uri="{9D8B030D-6E8A-4147-A177-3AD203B41FA5}">
                      <a16:colId xmlns:a16="http://schemas.microsoft.com/office/drawing/2014/main" val="2123712605"/>
                    </a:ext>
                  </a:extLst>
                </a:gridCol>
                <a:gridCol w="971358">
                  <a:extLst>
                    <a:ext uri="{9D8B030D-6E8A-4147-A177-3AD203B41FA5}">
                      <a16:colId xmlns:a16="http://schemas.microsoft.com/office/drawing/2014/main" val="150245045"/>
                    </a:ext>
                  </a:extLst>
                </a:gridCol>
                <a:gridCol w="971358">
                  <a:extLst>
                    <a:ext uri="{9D8B030D-6E8A-4147-A177-3AD203B41FA5}">
                      <a16:colId xmlns:a16="http://schemas.microsoft.com/office/drawing/2014/main" val="1005096794"/>
                    </a:ext>
                  </a:extLst>
                </a:gridCol>
                <a:gridCol w="867737">
                  <a:extLst>
                    <a:ext uri="{9D8B030D-6E8A-4147-A177-3AD203B41FA5}">
                      <a16:colId xmlns:a16="http://schemas.microsoft.com/office/drawing/2014/main" val="2978123930"/>
                    </a:ext>
                  </a:extLst>
                </a:gridCol>
              </a:tblGrid>
              <a:tr h="650239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課外讀物(本)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3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5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6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alt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合計</a:t>
                      </a: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504556"/>
                  </a:ext>
                </a:extLst>
              </a:tr>
              <a:tr h="650239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次數(人)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3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25</a:t>
                      </a:r>
                      <a:r>
                        <a:rPr lang="zh-TW" alt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人</a:t>
                      </a: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689199"/>
                  </a:ext>
                </a:extLst>
              </a:tr>
              <a:tr h="718821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alt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組閱讀數量</a:t>
                      </a: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×9=27</a:t>
                      </a:r>
                      <a:endParaRPr lang="zh-TW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4×8=32</a:t>
                      </a:r>
                      <a:endParaRPr lang="zh-TW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734695" algn="ctr" defTabSz="914400" rtl="0" eaLnBrk="1" fontAlgn="auto" latinLnBrk="0" hangingPunct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5×3=15</a:t>
                      </a:r>
                      <a:endParaRPr lang="zh-TW" altLang="zh-TW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734695" algn="ctr" defTabSz="914400" rtl="0" eaLnBrk="1" fontAlgn="auto" latinLnBrk="0" hangingPunct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6×4=24</a:t>
                      </a:r>
                      <a:endParaRPr lang="zh-TW" altLang="zh-TW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734695" algn="ctr" defTabSz="914400" rtl="0" eaLnBrk="1" fontAlgn="auto" latinLnBrk="0" hangingPunct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7×1=7</a:t>
                      </a:r>
                      <a:endParaRPr lang="zh-TW" altLang="zh-TW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105</a:t>
                      </a:r>
                      <a:r>
                        <a:rPr lang="zh-TW" alt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本</a:t>
                      </a: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84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466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981953" cy="5120640"/>
          </a:xfrm>
        </p:spPr>
        <p:txBody>
          <a:bodyPr anchor="t">
            <a:normAutofit lnSpcReduction="10000"/>
          </a:bodyPr>
          <a:lstStyle/>
          <a:p>
            <a:r>
              <a:rPr lang="zh-TW" altLang="en-US" dirty="0"/>
              <a:t>已分組資料的平均數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先計算</a:t>
            </a:r>
            <a:r>
              <a:rPr lang="zh-TW" altLang="en-US" b="1" dirty="0">
                <a:solidFill>
                  <a:srgbClr val="FF0000"/>
                </a:solidFill>
              </a:rPr>
              <a:t>組中點</a:t>
            </a:r>
            <a:r>
              <a:rPr lang="zh-TW" altLang="en-US" dirty="0"/>
              <a:t>，再計算各組數量，最後計算總數後取平均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例題：求分組後平均分數為多少分？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平均分數＝總分數</a:t>
            </a:r>
            <a:r>
              <a:rPr lang="en-US" altLang="zh-TW" dirty="0"/>
              <a:t>÷</a:t>
            </a:r>
            <a:r>
              <a:rPr lang="zh-TW" altLang="en-US" dirty="0"/>
              <a:t>總人數＝ </a:t>
            </a:r>
            <a:r>
              <a:rPr lang="en-US" altLang="zh-TW" dirty="0"/>
              <a:t>1945÷25</a:t>
            </a:r>
            <a:r>
              <a:rPr lang="zh-TW" altLang="en-US" dirty="0"/>
              <a:t>＝</a:t>
            </a:r>
            <a:r>
              <a:rPr lang="en-US" altLang="zh-TW" dirty="0"/>
              <a:t>77.8</a:t>
            </a:r>
            <a:r>
              <a:rPr lang="zh-TW" altLang="en-US" dirty="0"/>
              <a:t>分。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7FDB337-2FBE-F576-7FE6-C30C86AD9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55421"/>
              </p:ext>
            </p:extLst>
          </p:nvPr>
        </p:nvGraphicFramePr>
        <p:xfrm>
          <a:off x="3676650" y="3190873"/>
          <a:ext cx="7981954" cy="1809752"/>
        </p:xfrm>
        <a:graphic>
          <a:graphicData uri="http://schemas.openxmlformats.org/drawingml/2006/table">
            <a:tbl>
              <a:tblPr/>
              <a:tblGrid>
                <a:gridCol w="1019175">
                  <a:extLst>
                    <a:ext uri="{9D8B030D-6E8A-4147-A177-3AD203B41FA5}">
                      <a16:colId xmlns:a16="http://schemas.microsoft.com/office/drawing/2014/main" val="3501120155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105712727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439606887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666684548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1890501348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917720030"/>
                    </a:ext>
                  </a:extLst>
                </a:gridCol>
                <a:gridCol w="781054">
                  <a:extLst>
                    <a:ext uri="{9D8B030D-6E8A-4147-A177-3AD203B41FA5}">
                      <a16:colId xmlns:a16="http://schemas.microsoft.com/office/drawing/2014/main" val="2529214112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分數(分)</a:t>
                      </a: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50</a:t>
                      </a: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∼</a:t>
                      </a: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60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60</a:t>
                      </a: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∼</a:t>
                      </a: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70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70</a:t>
                      </a: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∼</a:t>
                      </a: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80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80</a:t>
                      </a: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∼</a:t>
                      </a: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90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90</a:t>
                      </a: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∼</a:t>
                      </a: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100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合計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12998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次數(人)</a:t>
                      </a: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2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5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5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10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3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87618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alt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組中點</a:t>
                      </a: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55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65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75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85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95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56845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alt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組分數</a:t>
                      </a: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55×2=110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734695" algn="ctr" defTabSz="914400" rtl="0" eaLnBrk="1" fontAlgn="auto" latinLnBrk="0" hangingPunct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65×5=325</a:t>
                      </a:r>
                      <a:endParaRPr lang="zh-TW" alt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734695" algn="ctr" defTabSz="914400" rtl="0" eaLnBrk="1" fontAlgn="auto" latinLnBrk="0" hangingPunct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75×5=375</a:t>
                      </a:r>
                      <a:endParaRPr lang="zh-TW" alt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734695" algn="ctr" defTabSz="914400" rtl="0" eaLnBrk="1" fontAlgn="auto" latinLnBrk="0" hangingPunct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85×10=850</a:t>
                      </a:r>
                      <a:endParaRPr lang="zh-TW" alt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734695" algn="ctr" defTabSz="914400" rtl="0" eaLnBrk="1" fontAlgn="auto" latinLnBrk="0" hangingPunct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95×3=285</a:t>
                      </a:r>
                      <a:endParaRPr lang="zh-TW" alt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1945</a:t>
                      </a:r>
                      <a:endParaRPr lang="zh-TW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9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016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zh-TW" altLang="en-US" dirty="0"/>
              <a:t>中位數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一群資料</a:t>
            </a:r>
            <a:r>
              <a:rPr lang="zh-TW" altLang="en-US" b="1" dirty="0">
                <a:solidFill>
                  <a:srgbClr val="FF0000"/>
                </a:solidFill>
              </a:rPr>
              <a:t>由小到大</a:t>
            </a:r>
            <a:r>
              <a:rPr lang="zh-TW" altLang="en-US" dirty="0"/>
              <a:t>的中間那個數，可能是小數或分數，只有一個值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將資料位數除以 </a:t>
            </a:r>
            <a:r>
              <a:rPr lang="en-US" altLang="zh-TW" dirty="0"/>
              <a:t>2</a:t>
            </a:r>
            <a:r>
              <a:rPr lang="zh-TW" altLang="en-US" dirty="0"/>
              <a:t>，如果有小數，就取下一位數；如果沒有小數，就是這一位數和下一位數的</a:t>
            </a:r>
            <a:r>
              <a:rPr lang="zh-TW" altLang="en-US" b="1" dirty="0">
                <a:solidFill>
                  <a:srgbClr val="FF0000"/>
                </a:solidFill>
              </a:rPr>
              <a:t>平均數</a:t>
            </a:r>
            <a:r>
              <a:rPr lang="zh-TW" altLang="en-US" dirty="0"/>
              <a:t>。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3D14277-F23D-9351-61C7-992BCC5211DF}"/>
              </a:ext>
            </a:extLst>
          </p:cNvPr>
          <p:cNvGrpSpPr/>
          <p:nvPr/>
        </p:nvGrpSpPr>
        <p:grpSpPr>
          <a:xfrm>
            <a:off x="3542243" y="2237491"/>
            <a:ext cx="12649200" cy="2373874"/>
            <a:chOff x="3618443" y="2149983"/>
            <a:chExt cx="12649200" cy="2373874"/>
          </a:xfrm>
        </p:grpSpPr>
        <p:graphicFrame>
          <p:nvGraphicFramePr>
            <p:cNvPr id="5" name="物件 4">
              <a:extLst>
                <a:ext uri="{FF2B5EF4-FFF2-40B4-BE49-F238E27FC236}">
                  <a16:creationId xmlns:a16="http://schemas.microsoft.com/office/drawing/2014/main" id="{E309BBEB-DBCE-BE59-48A9-045253B38A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2230248"/>
                </p:ext>
              </p:extLst>
            </p:nvPr>
          </p:nvGraphicFramePr>
          <p:xfrm>
            <a:off x="3618443" y="2175890"/>
            <a:ext cx="8432800" cy="2338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5028409" imgH="1367639" progId="Word.Picture.8">
                    <p:embed/>
                  </p:oleObj>
                </mc:Choice>
                <mc:Fallback>
                  <p:oleObj name="Picture" r:id="rId2" imgW="5028409" imgH="1367639" progId="Word.Picture.8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8443" y="2175890"/>
                          <a:ext cx="8432800" cy="233844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物件 6">
              <a:extLst>
                <a:ext uri="{FF2B5EF4-FFF2-40B4-BE49-F238E27FC236}">
                  <a16:creationId xmlns:a16="http://schemas.microsoft.com/office/drawing/2014/main" id="{2DA0B212-D809-8ED9-F10F-8D966C93DD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4611318"/>
                </p:ext>
              </p:extLst>
            </p:nvPr>
          </p:nvGraphicFramePr>
          <p:xfrm>
            <a:off x="7834843" y="2149983"/>
            <a:ext cx="8432800" cy="23738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4" imgW="5028409" imgH="1367639" progId="Word.Picture.8">
                    <p:embed/>
                  </p:oleObj>
                </mc:Choice>
                <mc:Fallback>
                  <p:oleObj name="Picture" r:id="rId4" imgW="5028409" imgH="1367639" progId="Word.Picture.8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4843" y="2149983"/>
                          <a:ext cx="8432800" cy="237387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19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中位數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課本說明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90C25D40-B528-5164-3922-B851AB245F5C}"/>
                  </a:ext>
                </a:extLst>
              </p:cNvPr>
              <p:cNvSpPr/>
              <p:nvPr/>
            </p:nvSpPr>
            <p:spPr>
              <a:xfrm>
                <a:off x="3505200" y="2086038"/>
                <a:ext cx="8277225" cy="340036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hangingPunct="0">
                  <a:lnSpc>
                    <a:spcPct val="120000"/>
                  </a:lnSpc>
                </a:pP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一群</a:t>
                </a:r>
                <a:r>
                  <a:rPr lang="en-US" altLang="zh-TW" sz="22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個數值資料，</a:t>
                </a:r>
                <a:r>
                  <a:rPr lang="zh-TW" altLang="zh-TW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由小到大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依序排列後，</a:t>
                </a:r>
              </a:p>
              <a:p>
                <a:pPr marL="182880" indent="-182880" algn="just" hangingPunct="0">
                  <a:lnSpc>
                    <a:spcPct val="120000"/>
                  </a:lnSpc>
                </a:pP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⑴</a:t>
                </a:r>
                <a:r>
                  <a:rPr lang="en-US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</a:t>
                </a:r>
                <a:r>
                  <a:rPr lang="en-US" altLang="zh-TW" sz="22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zh-TW" altLang="zh-TW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奇數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，中位數為排在最中間的數，即</a:t>
                </a:r>
                <a:r>
                  <a:rPr lang="zh-TW" altLang="zh-TW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第</a:t>
                </a:r>
                <a:r>
                  <a:rPr lang="zh-TW" altLang="en-US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2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200" b="1" i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zh-TW" altLang="zh-TW" sz="22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＋</m:t>
                        </m:r>
                        <m:r>
                          <m:rPr>
                            <m:nor/>
                          </m:rPr>
                          <a:rPr lang="en-US" altLang="zh-TW" sz="22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2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</a:p>
              <a:p>
                <a:pPr indent="-360000"/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⑵</a:t>
                </a:r>
                <a:r>
                  <a:rPr lang="en-US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</a:t>
                </a:r>
                <a:r>
                  <a:rPr lang="en-US" altLang="zh-TW" sz="22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zh-TW" altLang="zh-TW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偶數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，中位數為排在</a:t>
                </a:r>
                <a:r>
                  <a:rPr lang="zh-TW" altLang="zh-TW" sz="2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最中間兩個數的平均數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，即第</a:t>
                </a:r>
                <a:r>
                  <a:rPr lang="zh-TW" altLang="en-US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2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200" i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zh-TW" alt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個與第</a:t>
                </a:r>
                <a:r>
                  <a:rPr lang="zh-TW" altLang="en-US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2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200" i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＋</a:t>
                </a:r>
                <a:r>
                  <a:rPr lang="en-US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個數的平均數。</a:t>
                </a:r>
                <a:endParaRPr lang="zh-TW" altLang="en-US" sz="22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90C25D40-B528-5164-3922-B851AB245F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086038"/>
                <a:ext cx="8277225" cy="34003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884582" cy="5120640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中位數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例題：</a:t>
            </a:r>
            <a:r>
              <a:rPr lang="en-US" altLang="zh-TW" dirty="0"/>
              <a:t>1600</a:t>
            </a:r>
            <a:r>
              <a:rPr lang="zh-TW" altLang="en-US" dirty="0"/>
              <a:t>公尺跑走中位數為多少？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排序後得到</a:t>
            </a:r>
            <a:r>
              <a:rPr lang="en-US" altLang="zh-TW" dirty="0"/>
              <a:t>7, 7, 7, 8, 8, 8, 8, 8, 8, 8, 8, 8, 9, 9, 9, 10 ,10 ,10 ,10 ,10, 11, 11, 12, 12, 12, 12, 13</a:t>
            </a:r>
            <a:r>
              <a:rPr lang="zh-TW" altLang="en-US" dirty="0"/>
              <a:t>，共</a:t>
            </a:r>
            <a:r>
              <a:rPr lang="en-US" altLang="zh-TW" dirty="0"/>
              <a:t>27</a:t>
            </a:r>
            <a:r>
              <a:rPr lang="zh-TW" altLang="en-US" dirty="0"/>
              <a:t>位。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中位數為 </a:t>
            </a:r>
            <a:r>
              <a:rPr lang="en-US" altLang="zh-TW" dirty="0"/>
              <a:t>27</a:t>
            </a:r>
            <a:r>
              <a:rPr lang="zh-TW" altLang="en-US" dirty="0"/>
              <a:t> </a:t>
            </a:r>
            <a:r>
              <a:rPr lang="en-US" altLang="zh-TW" dirty="0"/>
              <a:t>÷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13.5</a:t>
            </a:r>
            <a:r>
              <a:rPr lang="zh-TW" altLang="en-US" dirty="0"/>
              <a:t>，取第</a:t>
            </a:r>
            <a:r>
              <a:rPr lang="en-US" altLang="zh-TW" dirty="0"/>
              <a:t>14</a:t>
            </a:r>
            <a:r>
              <a:rPr lang="zh-TW" altLang="en-US" dirty="0"/>
              <a:t>位，是</a:t>
            </a:r>
            <a:r>
              <a:rPr lang="en-US" altLang="zh-TW" dirty="0"/>
              <a:t>9</a:t>
            </a:r>
            <a:r>
              <a:rPr lang="zh-TW" altLang="en-US" dirty="0"/>
              <a:t>分鐘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答：</a:t>
            </a:r>
            <a:r>
              <a:rPr lang="en-US" altLang="zh-TW" dirty="0"/>
              <a:t>9</a:t>
            </a:r>
            <a:r>
              <a:rPr lang="zh-TW" altLang="en-US" dirty="0"/>
              <a:t>分鐘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82DC6D-3A80-1829-7952-4A7D3BFAF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111927"/>
              </p:ext>
            </p:extLst>
          </p:nvPr>
        </p:nvGraphicFramePr>
        <p:xfrm>
          <a:off x="3869268" y="1934526"/>
          <a:ext cx="7703607" cy="980124"/>
        </p:xfrm>
        <a:graphic>
          <a:graphicData uri="http://schemas.openxmlformats.org/drawingml/2006/table">
            <a:tbl>
              <a:tblPr/>
              <a:tblGrid>
                <a:gridCol w="1846805">
                  <a:extLst>
                    <a:ext uri="{9D8B030D-6E8A-4147-A177-3AD203B41FA5}">
                      <a16:colId xmlns:a16="http://schemas.microsoft.com/office/drawing/2014/main" val="3732726635"/>
                    </a:ext>
                  </a:extLst>
                </a:gridCol>
                <a:gridCol w="836686">
                  <a:extLst>
                    <a:ext uri="{9D8B030D-6E8A-4147-A177-3AD203B41FA5}">
                      <a16:colId xmlns:a16="http://schemas.microsoft.com/office/drawing/2014/main" val="575669421"/>
                    </a:ext>
                  </a:extLst>
                </a:gridCol>
                <a:gridCol w="836686">
                  <a:extLst>
                    <a:ext uri="{9D8B030D-6E8A-4147-A177-3AD203B41FA5}">
                      <a16:colId xmlns:a16="http://schemas.microsoft.com/office/drawing/2014/main" val="456774757"/>
                    </a:ext>
                  </a:extLst>
                </a:gridCol>
                <a:gridCol w="836686">
                  <a:extLst>
                    <a:ext uri="{9D8B030D-6E8A-4147-A177-3AD203B41FA5}">
                      <a16:colId xmlns:a16="http://schemas.microsoft.com/office/drawing/2014/main" val="3684429756"/>
                    </a:ext>
                  </a:extLst>
                </a:gridCol>
                <a:gridCol w="836686">
                  <a:extLst>
                    <a:ext uri="{9D8B030D-6E8A-4147-A177-3AD203B41FA5}">
                      <a16:colId xmlns:a16="http://schemas.microsoft.com/office/drawing/2014/main" val="643191889"/>
                    </a:ext>
                  </a:extLst>
                </a:gridCol>
                <a:gridCol w="836686">
                  <a:extLst>
                    <a:ext uri="{9D8B030D-6E8A-4147-A177-3AD203B41FA5}">
                      <a16:colId xmlns:a16="http://schemas.microsoft.com/office/drawing/2014/main" val="3324140887"/>
                    </a:ext>
                  </a:extLst>
                </a:gridCol>
                <a:gridCol w="836686">
                  <a:extLst>
                    <a:ext uri="{9D8B030D-6E8A-4147-A177-3AD203B41FA5}">
                      <a16:colId xmlns:a16="http://schemas.microsoft.com/office/drawing/2014/main" val="3106974756"/>
                    </a:ext>
                  </a:extLst>
                </a:gridCol>
                <a:gridCol w="836686">
                  <a:extLst>
                    <a:ext uri="{9D8B030D-6E8A-4147-A177-3AD203B41FA5}">
                      <a16:colId xmlns:a16="http://schemas.microsoft.com/office/drawing/2014/main" val="3728053625"/>
                    </a:ext>
                  </a:extLst>
                </a:gridCol>
              </a:tblGrid>
              <a:tr h="490062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時間(分鐘)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7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71755" marR="71755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8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10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11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12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13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066067"/>
                  </a:ext>
                </a:extLst>
              </a:tr>
              <a:tr h="490062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b-黑體W5+times"/>
                        </a:rPr>
                        <a:t>次數(人)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E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3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71755" marR="71755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9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3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5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2</a:t>
                      </a:r>
                      <a:endParaRPr lang="zh-TW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4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ts val="1400"/>
                        </a:lnSpc>
                      </a:pPr>
                      <a:r>
                        <a:rPr lang="zh-TW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a-明體W5+times"/>
                        </a:rPr>
                        <a:t>1</a:t>
                      </a:r>
                      <a:endParaRPr lang="zh-TW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b-黑體W5+times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93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57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統計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zh-TW" altLang="en-US" dirty="0"/>
              <a:t>眾數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出現次數最多的數，</a:t>
            </a:r>
            <a:r>
              <a:rPr lang="zh-TW" altLang="en-US" b="1" dirty="0">
                <a:solidFill>
                  <a:srgbClr val="FF0000"/>
                </a:solidFill>
              </a:rPr>
              <a:t>可能不只一個數</a:t>
            </a:r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dirty="0"/>
              <a:t>例題：</a:t>
            </a:r>
            <a:r>
              <a:rPr lang="en-US" altLang="zh-TW" dirty="0"/>
              <a:t>6, 6, 2, 1, 3, 5, 2, 2, 3, 3, 1</a:t>
            </a:r>
            <a:r>
              <a:rPr lang="zh-TW" altLang="en-US" dirty="0"/>
              <a:t> 取眾數。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可以知道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因此 </a:t>
            </a:r>
            <a:r>
              <a:rPr lang="en-US" altLang="zh-TW" dirty="0"/>
              <a:t>2 </a:t>
            </a:r>
            <a:r>
              <a:rPr lang="zh-TW" altLang="en-US" dirty="0"/>
              <a:t>和 </a:t>
            </a:r>
            <a:r>
              <a:rPr lang="en-US" altLang="zh-TW" dirty="0"/>
              <a:t>3 </a:t>
            </a:r>
            <a:r>
              <a:rPr lang="zh-TW" altLang="en-US" dirty="0"/>
              <a:t>都是眾數</a:t>
            </a:r>
            <a:endParaRPr lang="en-US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EE6B378-31BF-F5A8-00CD-AC4161971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585103"/>
              </p:ext>
            </p:extLst>
          </p:nvPr>
        </p:nvGraphicFramePr>
        <p:xfrm>
          <a:off x="5760510" y="2949702"/>
          <a:ext cx="2373840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86920">
                  <a:extLst>
                    <a:ext uri="{9D8B030D-6E8A-4147-A177-3AD203B41FA5}">
                      <a16:colId xmlns:a16="http://schemas.microsoft.com/office/drawing/2014/main" val="858010344"/>
                    </a:ext>
                  </a:extLst>
                </a:gridCol>
                <a:gridCol w="1186920">
                  <a:extLst>
                    <a:ext uri="{9D8B030D-6E8A-4147-A177-3AD203B41FA5}">
                      <a16:colId xmlns:a16="http://schemas.microsoft.com/office/drawing/2014/main" val="3964486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數字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出現次數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99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52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204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270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67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399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03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「點」只代表位置，沒有大小之分。</a:t>
            </a:r>
            <a:endParaRPr lang="en-US" altLang="zh-TW" dirty="0"/>
          </a:p>
          <a:p>
            <a:r>
              <a:rPr lang="zh-TW" altLang="en-US" dirty="0"/>
              <a:t>「線」分為三種：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0FA01D5F-DEB4-6474-640B-860639C5A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611843"/>
                  </p:ext>
                </p:extLst>
              </p:nvPr>
            </p:nvGraphicFramePr>
            <p:xfrm>
              <a:off x="3869903" y="2034825"/>
              <a:ext cx="7874421" cy="41278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22342">
                      <a:extLst>
                        <a:ext uri="{9D8B030D-6E8A-4147-A177-3AD203B41FA5}">
                          <a16:colId xmlns:a16="http://schemas.microsoft.com/office/drawing/2014/main" val="3040991774"/>
                        </a:ext>
                      </a:extLst>
                    </a:gridCol>
                    <a:gridCol w="4132292">
                      <a:extLst>
                        <a:ext uri="{9D8B030D-6E8A-4147-A177-3AD203B41FA5}">
                          <a16:colId xmlns:a16="http://schemas.microsoft.com/office/drawing/2014/main" val="1672789672"/>
                        </a:ext>
                      </a:extLst>
                    </a:gridCol>
                    <a:gridCol w="2919787">
                      <a:extLst>
                        <a:ext uri="{9D8B030D-6E8A-4147-A177-3AD203B41FA5}">
                          <a16:colId xmlns:a16="http://schemas.microsoft.com/office/drawing/2014/main" val="1836144387"/>
                        </a:ext>
                      </a:extLst>
                    </a:gridCol>
                  </a:tblGrid>
                  <a:tr h="1217151">
                    <a:tc>
                      <a:txBody>
                        <a:bodyPr/>
                        <a:lstStyle/>
                        <a:p>
                          <a:pPr indent="-734695" algn="ctr" hangingPunct="0"/>
                          <a:r>
                            <a:rPr lang="zh-TW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b-黑體W5+times"/>
                            </a:rPr>
                            <a:t>直線</a:t>
                          </a:r>
                          <a:endParaRPr lang="zh-TW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b-黑體W5+times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-734695" algn="just" hangingPunct="0">
                            <a:lnSpc>
                              <a:spcPct val="120000"/>
                            </a:lnSpc>
                          </a:pP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直線可標示為</a:t>
                          </a:r>
                          <a:r>
                            <a:rPr lang="zh-TW" sz="1600" b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直線</a:t>
                          </a:r>
                          <a:r>
                            <a:rPr lang="en-US" sz="1600" b="1" i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AB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zh-TW" sz="160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AB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(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也可寫成直線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BA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zh-TW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1"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BA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)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，其中符號「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zh-TW" sz="160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zh-TW" sz="1600" b="0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　</m:t>
                                  </m:r>
                                </m:e>
                              </m:acc>
                            </m:oMath>
                          </a14:m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」表示直線可以向兩邊無限延伸。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endParaRPr lang="zh-TW" sz="16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r>
                            <a:rPr lang="zh-TW" sz="14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直線</a:t>
                          </a:r>
                          <a:r>
                            <a:rPr lang="en-US" sz="1400" i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AB</a:t>
                          </a: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zh-TW" sz="1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</a:rPr>
                                    <m:t>B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)</a:t>
                          </a:r>
                          <a:endParaRPr lang="zh-TW" sz="16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8633607"/>
                      </a:ext>
                    </a:extLst>
                  </a:tr>
                  <a:tr h="1037898">
                    <a:tc>
                      <a:txBody>
                        <a:bodyPr/>
                        <a:lstStyle/>
                        <a:p>
                          <a:pPr indent="-734695" algn="ctr" hangingPunct="0"/>
                          <a:r>
                            <a:rPr lang="zh-TW" sz="16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b-黑體W5+times"/>
                            </a:rPr>
                            <a:t>線段</a:t>
                          </a:r>
                          <a:endParaRPr lang="zh-TW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b-黑體W5+times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-734695" algn="just" hangingPunct="0">
                            <a:lnSpc>
                              <a:spcPct val="120000"/>
                            </a:lnSpc>
                          </a:pP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點與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點之間的部分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(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含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點與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點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)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稱為</a:t>
                          </a:r>
                          <a:r>
                            <a:rPr lang="zh-TW" sz="1600" b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線段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，以</a:t>
                          </a:r>
                          <a:r>
                            <a:rPr lang="zh-TW" sz="1600" b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線段</a:t>
                          </a:r>
                          <a:r>
                            <a:rPr lang="en-US" sz="1600" b="1" i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AB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TW" sz="160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AB</m:t>
                                  </m:r>
                                </m:e>
                              </m:acc>
                            </m:oMath>
                          </a14:m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標示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(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也可寫成線段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BA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TW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1"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BA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)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，而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點和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</a:t>
                          </a:r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點都稱為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TW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1"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AB</m:t>
                                  </m:r>
                                </m:e>
                              </m:acc>
                            </m:oMath>
                          </a14:m>
                          <a:r>
                            <a:rPr lang="zh-TW" sz="1600" dirty="0">
                              <a:effectLst/>
                              <a:latin typeface="華康明體o浡渀."/>
                              <a:ea typeface="新細明體" panose="02020500000000000000" pitchFamily="18" charset="-120"/>
                              <a:cs typeface="華康明體o浡渀."/>
                            </a:rPr>
                            <a:t>的端點。</a:t>
                          </a:r>
                          <a:endParaRPr lang="zh-TW" sz="16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endParaRPr lang="en-US" altLang="zh-TW" sz="14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r>
                            <a:rPr lang="zh-TW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線段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AB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TW" sz="1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AB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)</a:t>
                          </a:r>
                          <a:endParaRPr lang="zh-TW" sz="16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7040953"/>
                      </a:ext>
                    </a:extLst>
                  </a:tr>
                  <a:tr h="1872801">
                    <a:tc>
                      <a:txBody>
                        <a:bodyPr/>
                        <a:lstStyle/>
                        <a:p>
                          <a:pPr indent="-734695" algn="ctr" hangingPunct="0"/>
                          <a:r>
                            <a:rPr lang="zh-TW" sz="16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b-黑體W5+times"/>
                            </a:rPr>
                            <a:t>射線</a:t>
                          </a:r>
                          <a:endParaRPr lang="zh-TW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b-黑體W5+times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-734695" algn="just" hangingPunct="0">
                            <a:lnSpc>
                              <a:spcPct val="120000"/>
                            </a:lnSpc>
                          </a:pP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以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點為端點，往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點的方向無限延伸出去，稱為</a:t>
                          </a:r>
                          <a:r>
                            <a:rPr lang="zh-TW" sz="1600" b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射線</a:t>
                          </a:r>
                          <a:r>
                            <a:rPr lang="en-US" sz="1600" b="1" i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AB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，標示為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zh-TW" sz="160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AB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；若以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點為端點，往</a:t>
                          </a:r>
                          <a:r>
                            <a:rPr lang="en-US" sz="1600" i="1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點的方向無限延伸出去，稱為</a:t>
                          </a:r>
                          <a:r>
                            <a:rPr lang="zh-TW" sz="1600" b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射線</a:t>
                          </a:r>
                          <a:r>
                            <a:rPr lang="en-US" sz="1600" b="1" i="1" dirty="0">
                              <a:solidFill>
                                <a:srgbClr val="008CD6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BA</a:t>
                          </a:r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，標示為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zh-TW" sz="160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>
                                      <a:solidFill>
                                        <a:srgbClr val="008CD6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BA</m:t>
                                  </m:r>
                                </m:e>
                              </m:acc>
                            </m:oMath>
                          </a14:m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。因為端點和延伸的方向都不一樣，所以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zh-TW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AB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和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zh-TW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</a:rPr>
                                    <m:t>BA</m:t>
                                  </m:r>
                                </m:e>
                              </m:acc>
                            </m:oMath>
                          </a14:m>
                          <a:r>
                            <a:rPr lang="zh-TW" sz="16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是不相同的。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endParaRPr lang="en-US" altLang="zh-TW" sz="14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endParaRPr lang="en-US" altLang="zh-TW" sz="14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r>
                            <a:rPr lang="zh-TW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射線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AB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zh-TW" sz="1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AB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)</a:t>
                          </a:r>
                        </a:p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endParaRPr lang="en-US" altLang="zh-TW" sz="16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endParaRPr lang="zh-TW" sz="16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  <a:p>
                          <a:pPr indent="-734695" algn="ctr" hangingPunct="0">
                            <a:lnSpc>
                              <a:spcPct val="120000"/>
                            </a:lnSpc>
                          </a:pPr>
                          <a:r>
                            <a:rPr lang="zh-TW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射線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BA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zh-TW" sz="1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BA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新細明體" panose="02020500000000000000" pitchFamily="18" charset="-12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</a:rPr>
                            <a:t>)</a:t>
                          </a:r>
                          <a:endParaRPr lang="zh-TW" sz="16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089572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0FA01D5F-DEB4-6474-640B-860639C5A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611843"/>
                  </p:ext>
                </p:extLst>
              </p:nvPr>
            </p:nvGraphicFramePr>
            <p:xfrm>
              <a:off x="3869903" y="2034825"/>
              <a:ext cx="7874421" cy="41278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22342">
                      <a:extLst>
                        <a:ext uri="{9D8B030D-6E8A-4147-A177-3AD203B41FA5}">
                          <a16:colId xmlns:a16="http://schemas.microsoft.com/office/drawing/2014/main" val="3040991774"/>
                        </a:ext>
                      </a:extLst>
                    </a:gridCol>
                    <a:gridCol w="4132292">
                      <a:extLst>
                        <a:ext uri="{9D8B030D-6E8A-4147-A177-3AD203B41FA5}">
                          <a16:colId xmlns:a16="http://schemas.microsoft.com/office/drawing/2014/main" val="1672789672"/>
                        </a:ext>
                      </a:extLst>
                    </a:gridCol>
                    <a:gridCol w="2919787">
                      <a:extLst>
                        <a:ext uri="{9D8B030D-6E8A-4147-A177-3AD203B41FA5}">
                          <a16:colId xmlns:a16="http://schemas.microsoft.com/office/drawing/2014/main" val="1836144387"/>
                        </a:ext>
                      </a:extLst>
                    </a:gridCol>
                  </a:tblGrid>
                  <a:tr h="1217151">
                    <a:tc>
                      <a:txBody>
                        <a:bodyPr/>
                        <a:lstStyle/>
                        <a:p>
                          <a:pPr indent="-734695" algn="ctr" hangingPunct="0"/>
                          <a:r>
                            <a:rPr lang="zh-TW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b-黑體W5+times"/>
                            </a:rPr>
                            <a:t>直線</a:t>
                          </a:r>
                          <a:endParaRPr lang="zh-TW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b-黑體W5+times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82" t="-500" r="-70692" b="-240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937" t="-500" r="-209" b="-240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633607"/>
                      </a:ext>
                    </a:extLst>
                  </a:tr>
                  <a:tr h="1037898">
                    <a:tc>
                      <a:txBody>
                        <a:bodyPr/>
                        <a:lstStyle/>
                        <a:p>
                          <a:pPr indent="-734695" algn="ctr" hangingPunct="0"/>
                          <a:r>
                            <a:rPr lang="zh-TW" sz="16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b-黑體W5+times"/>
                            </a:rPr>
                            <a:t>線段</a:t>
                          </a:r>
                          <a:endParaRPr lang="zh-TW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b-黑體W5+times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82" t="-118235" r="-70692" b="-18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937" t="-118235" r="-209" b="-18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040953"/>
                      </a:ext>
                    </a:extLst>
                  </a:tr>
                  <a:tr h="1872801">
                    <a:tc>
                      <a:txBody>
                        <a:bodyPr/>
                        <a:lstStyle/>
                        <a:p>
                          <a:pPr indent="-734695" algn="ctr" hangingPunct="0"/>
                          <a:r>
                            <a:rPr lang="zh-TW" sz="16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b-黑體W5+times"/>
                            </a:rPr>
                            <a:t>射線</a:t>
                          </a:r>
                          <a:endParaRPr lang="zh-TW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b-黑體W5+times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82" t="-120455" r="-70692" b="-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8888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937" t="-120455" r="-209" b="-9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95723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74C6B5C9-C9E0-4C47-7D32-8EF3B9BBA5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6446390"/>
              </p:ext>
            </p:extLst>
          </p:nvPr>
        </p:nvGraphicFramePr>
        <p:xfrm>
          <a:off x="9177213" y="2295321"/>
          <a:ext cx="2186625" cy="894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1619610" imgH="560242" progId="Word.Picture.8">
                  <p:embed/>
                </p:oleObj>
              </mc:Choice>
              <mc:Fallback>
                <p:oleObj name="Picture" r:id="rId4" imgW="1619610" imgH="560242" progId="Word.Picture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7213" y="2295321"/>
                        <a:ext cx="2186625" cy="894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AB523F9A-2E77-0F45-AAF7-0A69ABF8C6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8153194"/>
              </p:ext>
            </p:extLst>
          </p:nvPr>
        </p:nvGraphicFramePr>
        <p:xfrm>
          <a:off x="9277771" y="3463253"/>
          <a:ext cx="2186625" cy="75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1623752" imgH="469684" progId="Word.Picture.8">
                  <p:embed/>
                </p:oleObj>
              </mc:Choice>
              <mc:Fallback>
                <p:oleObj name="Picture" r:id="rId6" imgW="1623752" imgH="469684" progId="Word.Picture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7771" y="3463253"/>
                        <a:ext cx="2186625" cy="755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FF37E277-4EA0-3B23-8462-E4D300613A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3805806"/>
              </p:ext>
            </p:extLst>
          </p:nvPr>
        </p:nvGraphicFramePr>
        <p:xfrm>
          <a:off x="9061450" y="4426337"/>
          <a:ext cx="2418150" cy="75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1799526" imgH="470474" progId="Word.Picture.8">
                  <p:embed/>
                </p:oleObj>
              </mc:Choice>
              <mc:Fallback>
                <p:oleObj name="Picture" r:id="rId8" imgW="1799526" imgH="470474" progId="Word.Picture.8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1450" y="4426337"/>
                        <a:ext cx="2418150" cy="755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5A8A2EC7-714D-B2C6-0ADA-454FEAFB52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2411013"/>
              </p:ext>
            </p:extLst>
          </p:nvPr>
        </p:nvGraphicFramePr>
        <p:xfrm>
          <a:off x="9061450" y="5228805"/>
          <a:ext cx="2418150" cy="75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0" imgW="1799526" imgH="470474" progId="Word.Picture.8">
                  <p:embed/>
                </p:oleObj>
              </mc:Choice>
              <mc:Fallback>
                <p:oleObj name="Picture" r:id="rId10" imgW="1799526" imgH="470474" progId="Word.Picture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1450" y="5228805"/>
                        <a:ext cx="2418150" cy="755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1655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827431" cy="5120640"/>
          </a:xfrm>
        </p:spPr>
        <p:txBody>
          <a:bodyPr anchor="t"/>
          <a:lstStyle/>
          <a:p>
            <a:r>
              <a:rPr lang="zh-TW" altLang="en-US" dirty="0"/>
              <a:t>角由兩條線組成，稱為角的「邊」</a:t>
            </a:r>
            <a:endParaRPr lang="en-US" altLang="zh-TW" dirty="0"/>
          </a:p>
          <a:p>
            <a:r>
              <a:rPr lang="zh-TW" altLang="en-US" dirty="0"/>
              <a:t>角的符號寫作「∠」</a:t>
            </a:r>
            <a:endParaRPr lang="en-US" altLang="zh-TW" dirty="0"/>
          </a:p>
          <a:p>
            <a:r>
              <a:rPr lang="zh-TW" altLang="en-US" dirty="0"/>
              <a:t>如果角內有代號，可以該代號命名，如「∠</a:t>
            </a:r>
            <a:r>
              <a:rPr lang="en-US" altLang="zh-TW" dirty="0"/>
              <a:t>1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如果角內沒有代號，可以用邊命名，如「∠</a:t>
            </a:r>
            <a:r>
              <a:rPr lang="en-US" altLang="zh-TW" dirty="0"/>
              <a:t>DBA</a:t>
            </a:r>
            <a:r>
              <a:rPr lang="zh-TW" altLang="en-US" dirty="0"/>
              <a:t>」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右圖的∠</a:t>
            </a:r>
            <a:r>
              <a:rPr lang="en-US" altLang="zh-TW" dirty="0"/>
              <a:t>1</a:t>
            </a:r>
            <a:r>
              <a:rPr lang="zh-TW" altLang="en-US" dirty="0"/>
              <a:t>和∠</a:t>
            </a:r>
            <a:r>
              <a:rPr lang="en-US" altLang="zh-TW" dirty="0"/>
              <a:t>DBA</a:t>
            </a:r>
            <a:br>
              <a:rPr lang="en-US" altLang="zh-TW" dirty="0"/>
            </a:br>
            <a:r>
              <a:rPr lang="zh-TW" altLang="en-US" dirty="0"/>
              <a:t>指的是同一個角</a:t>
            </a:r>
            <a:endParaRPr lang="en-US" altLang="zh-TW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F9D3AE06-9985-E3F0-82A4-648F04CC41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2323885"/>
              </p:ext>
            </p:extLst>
          </p:nvPr>
        </p:nvGraphicFramePr>
        <p:xfrm>
          <a:off x="7877174" y="2823724"/>
          <a:ext cx="3819524" cy="3600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169818" imgH="1101377" progId="Word.Picture.8">
                  <p:embed/>
                </p:oleObj>
              </mc:Choice>
              <mc:Fallback>
                <p:oleObj name="Picture" r:id="rId2" imgW="1169818" imgH="1101377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174" y="2823724"/>
                        <a:ext cx="3819524" cy="36003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642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多邊形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多邊形的邊角關係如右圖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多邊形的命名以「邊」為主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304B7DAA-7671-1FCB-9634-51A9B967A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725539"/>
              </p:ext>
            </p:extLst>
          </p:nvPr>
        </p:nvGraphicFramePr>
        <p:xfrm>
          <a:off x="8580582" y="102871"/>
          <a:ext cx="3358499" cy="232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790531" imgH="1245583" progId="Word.Picture.8">
                  <p:embed/>
                </p:oleObj>
              </mc:Choice>
              <mc:Fallback>
                <p:oleObj name="Picture" r:id="rId2" imgW="1790531" imgH="1245583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0582" y="102871"/>
                        <a:ext cx="3358499" cy="23223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4E6D7E7-8626-6477-4A65-6C6055FA2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23206"/>
              </p:ext>
            </p:extLst>
          </p:nvPr>
        </p:nvGraphicFramePr>
        <p:xfrm>
          <a:off x="4605579" y="3134449"/>
          <a:ext cx="5795645" cy="630492"/>
        </p:xfrm>
        <a:graphic>
          <a:graphicData uri="http://schemas.openxmlformats.org/drawingml/2006/table">
            <a:tbl>
              <a:tblPr firstRow="1" firstCol="1" bandRow="1"/>
              <a:tblGrid>
                <a:gridCol w="1712091">
                  <a:extLst>
                    <a:ext uri="{9D8B030D-6E8A-4147-A177-3AD203B41FA5}">
                      <a16:colId xmlns:a16="http://schemas.microsoft.com/office/drawing/2014/main" val="3983289519"/>
                    </a:ext>
                  </a:extLst>
                </a:gridCol>
                <a:gridCol w="1185414">
                  <a:extLst>
                    <a:ext uri="{9D8B030D-6E8A-4147-A177-3AD203B41FA5}">
                      <a16:colId xmlns:a16="http://schemas.microsoft.com/office/drawing/2014/main" val="497508706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3836190742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3211436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三邊形</a:t>
                      </a:r>
                      <a:b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</a:b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通常稱三角形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四邊形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五邊形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六邊形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93121"/>
                  </a:ext>
                </a:extLst>
              </a:tr>
            </a:tbl>
          </a:graphicData>
        </a:graphic>
      </p:graphicFrame>
      <p:graphicFrame>
        <p:nvGraphicFramePr>
          <p:cNvPr id="22" name="物件 21">
            <a:extLst>
              <a:ext uri="{FF2B5EF4-FFF2-40B4-BE49-F238E27FC236}">
                <a16:creationId xmlns:a16="http://schemas.microsoft.com/office/drawing/2014/main" id="{74EFDFD3-614E-0FAE-C236-0BD5F67463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9536918"/>
              </p:ext>
            </p:extLst>
          </p:nvPr>
        </p:nvGraphicFramePr>
        <p:xfrm>
          <a:off x="4971552" y="2377354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990261" imgH="830990" progId="Word.Picture.8">
                  <p:embed/>
                </p:oleObj>
              </mc:Choice>
              <mc:Fallback>
                <p:oleObj name="Picture" r:id="rId4" imgW="990261" imgH="830990" progId="Word.Picture.8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552" y="2377354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物件 22">
            <a:extLst>
              <a:ext uri="{FF2B5EF4-FFF2-40B4-BE49-F238E27FC236}">
                <a16:creationId xmlns:a16="http://schemas.microsoft.com/office/drawing/2014/main" id="{56D69F60-79EF-028E-7289-1F044B11F9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0219200"/>
              </p:ext>
            </p:extLst>
          </p:nvPr>
        </p:nvGraphicFramePr>
        <p:xfrm>
          <a:off x="6347838" y="2377354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990261" imgH="830990" progId="Word.Picture.8">
                  <p:embed/>
                </p:oleObj>
              </mc:Choice>
              <mc:Fallback>
                <p:oleObj name="Picture" r:id="rId6" imgW="990261" imgH="830990" progId="Word.Picture.8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7838" y="2377354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物件 23">
            <a:extLst>
              <a:ext uri="{FF2B5EF4-FFF2-40B4-BE49-F238E27FC236}">
                <a16:creationId xmlns:a16="http://schemas.microsoft.com/office/drawing/2014/main" id="{0BC81E78-8377-84A4-4124-C10C6C195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411119"/>
              </p:ext>
            </p:extLst>
          </p:nvPr>
        </p:nvGraphicFramePr>
        <p:xfrm>
          <a:off x="7708823" y="2377354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990261" imgH="830990" progId="Word.Picture.8">
                  <p:embed/>
                </p:oleObj>
              </mc:Choice>
              <mc:Fallback>
                <p:oleObj name="Picture" r:id="rId8" imgW="990261" imgH="830990" progId="Word.Picture.8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823" y="2377354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物件 24">
            <a:extLst>
              <a:ext uri="{FF2B5EF4-FFF2-40B4-BE49-F238E27FC236}">
                <a16:creationId xmlns:a16="http://schemas.microsoft.com/office/drawing/2014/main" id="{4D8DF5E4-2340-9452-065C-DA6B686658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7924936"/>
              </p:ext>
            </p:extLst>
          </p:nvPr>
        </p:nvGraphicFramePr>
        <p:xfrm>
          <a:off x="9209087" y="2377354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0" imgW="990261" imgH="830990" progId="Word.Picture.8">
                  <p:embed/>
                </p:oleObj>
              </mc:Choice>
              <mc:Fallback>
                <p:oleObj name="Picture" r:id="rId10" imgW="990261" imgH="830990" progId="Word.Picture.8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9087" y="2377354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D8F8B58A-6C6C-0267-349B-ECB19CE35D7B}"/>
              </a:ext>
            </a:extLst>
          </p:cNvPr>
          <p:cNvSpPr/>
          <p:nvPr/>
        </p:nvSpPr>
        <p:spPr>
          <a:xfrm>
            <a:off x="4448850" y="4000068"/>
            <a:ext cx="6156036" cy="63049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hangingPunct="0">
              <a:lnSpc>
                <a:spcPct val="120000"/>
              </a:lnSpc>
            </a:pPr>
            <a:r>
              <a:rPr lang="zh-TW" altLang="en-US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多邊形的所有</a:t>
            </a:r>
            <a:r>
              <a:rPr lang="zh-TW" alt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邊</a:t>
            </a:r>
            <a:r>
              <a:rPr lang="zh-TW" altLang="en-US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內角相等</a:t>
            </a:r>
            <a:r>
              <a:rPr lang="zh-TW" altLang="en-US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，就稱為</a:t>
            </a:r>
            <a:r>
              <a:rPr lang="zh-TW" alt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</a:t>
            </a:r>
            <a:r>
              <a:rPr lang="zh-TW" altLang="en-US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多邊形。</a:t>
            </a:r>
          </a:p>
        </p:txBody>
      </p: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7E1A4AF1-BA36-E812-9D45-704A9E65D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189633"/>
              </p:ext>
            </p:extLst>
          </p:nvPr>
        </p:nvGraphicFramePr>
        <p:xfrm>
          <a:off x="4082473" y="5489715"/>
          <a:ext cx="6342217" cy="630492"/>
        </p:xfrm>
        <a:graphic>
          <a:graphicData uri="http://schemas.openxmlformats.org/drawingml/2006/table">
            <a:tbl>
              <a:tblPr firstRow="1" firstCol="1" bandRow="1"/>
              <a:tblGrid>
                <a:gridCol w="2161309">
                  <a:extLst>
                    <a:ext uri="{9D8B030D-6E8A-4147-A177-3AD203B41FA5}">
                      <a16:colId xmlns:a16="http://schemas.microsoft.com/office/drawing/2014/main" val="92984403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34506143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3214087259"/>
                    </a:ext>
                  </a:extLst>
                </a:gridCol>
                <a:gridCol w="1216035">
                  <a:extLst>
                    <a:ext uri="{9D8B030D-6E8A-4147-A177-3AD203B41FA5}">
                      <a16:colId xmlns:a16="http://schemas.microsoft.com/office/drawing/2014/main" val="998904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正三角形</a:t>
                      </a:r>
                      <a:b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</a:b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又稱等邊三角形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正四邊形</a:t>
                      </a:r>
                      <a:b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</a:b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又稱正方形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正六邊形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</a:pPr>
                      <a:r>
                        <a:rPr lang="zh-TW" sz="18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正八邊形</a:t>
                      </a:r>
                      <a:endParaRPr lang="zh-TW" sz="20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295133"/>
                  </a:ext>
                </a:extLst>
              </a:tr>
            </a:tbl>
          </a:graphicData>
        </a:graphic>
      </p:graphicFrame>
      <p:graphicFrame>
        <p:nvGraphicFramePr>
          <p:cNvPr id="35" name="物件 34">
            <a:extLst>
              <a:ext uri="{FF2B5EF4-FFF2-40B4-BE49-F238E27FC236}">
                <a16:creationId xmlns:a16="http://schemas.microsoft.com/office/drawing/2014/main" id="{BDDA2F99-6580-589E-F634-6288C1F10D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6232411"/>
              </p:ext>
            </p:extLst>
          </p:nvPr>
        </p:nvGraphicFramePr>
        <p:xfrm>
          <a:off x="4699189" y="4698721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2" imgW="990261" imgH="830990" progId="Word.Picture.8">
                  <p:embed/>
                </p:oleObj>
              </mc:Choice>
              <mc:Fallback>
                <p:oleObj name="Picture" r:id="rId12" imgW="990261" imgH="830990" progId="Word.Picture.8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189" y="4698721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物件 35">
            <a:extLst>
              <a:ext uri="{FF2B5EF4-FFF2-40B4-BE49-F238E27FC236}">
                <a16:creationId xmlns:a16="http://schemas.microsoft.com/office/drawing/2014/main" id="{407A220E-0292-EC86-8BCC-6F794CEFF1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1931765"/>
              </p:ext>
            </p:extLst>
          </p:nvPr>
        </p:nvGraphicFramePr>
        <p:xfrm>
          <a:off x="6519710" y="4741579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4" imgW="990261" imgH="830990" progId="Word.Picture.8">
                  <p:embed/>
                </p:oleObj>
              </mc:Choice>
              <mc:Fallback>
                <p:oleObj name="Picture" r:id="rId14" imgW="990261" imgH="830990" progId="Word.Picture.8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710" y="4741579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物件 36">
            <a:extLst>
              <a:ext uri="{FF2B5EF4-FFF2-40B4-BE49-F238E27FC236}">
                <a16:creationId xmlns:a16="http://schemas.microsoft.com/office/drawing/2014/main" id="{5925DAED-A37D-D59A-CA83-D357D98391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779259"/>
              </p:ext>
            </p:extLst>
          </p:nvPr>
        </p:nvGraphicFramePr>
        <p:xfrm>
          <a:off x="8066184" y="4761731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6" imgW="990261" imgH="830990" progId="Word.Picture.8">
                  <p:embed/>
                </p:oleObj>
              </mc:Choice>
              <mc:Fallback>
                <p:oleObj name="Picture" r:id="rId16" imgW="990261" imgH="830990" progId="Word.Picture.8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6184" y="4761731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物件 37">
            <a:extLst>
              <a:ext uri="{FF2B5EF4-FFF2-40B4-BE49-F238E27FC236}">
                <a16:creationId xmlns:a16="http://schemas.microsoft.com/office/drawing/2014/main" id="{D8A8F081-5D5D-3525-DEF4-DB1D8DC1CE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390456"/>
              </p:ext>
            </p:extLst>
          </p:nvPr>
        </p:nvGraphicFramePr>
        <p:xfrm>
          <a:off x="9316097" y="4719455"/>
          <a:ext cx="990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8" imgW="990261" imgH="830990" progId="Word.Picture.8">
                  <p:embed/>
                </p:oleObj>
              </mc:Choice>
              <mc:Fallback>
                <p:oleObj name="Picture" r:id="rId18" imgW="990261" imgH="830990" progId="Word.Picture.8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6097" y="4719455"/>
                        <a:ext cx="9906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6605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962514" cy="5120640"/>
          </a:xfrm>
        </p:spPr>
        <p:txBody>
          <a:bodyPr anchor="t"/>
          <a:lstStyle/>
          <a:p>
            <a:r>
              <a:rPr lang="zh-TW" altLang="en-US" dirty="0"/>
              <a:t>多邊形的命名方式</a:t>
            </a:r>
            <a:r>
              <a:rPr lang="zh-TW" altLang="en-US" b="1" dirty="0">
                <a:solidFill>
                  <a:srgbClr val="FF0000"/>
                </a:solidFill>
              </a:rPr>
              <a:t>依順時針或逆時針方向命名</a:t>
            </a:r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dirty="0"/>
              <a:t>右圖稱作「四邊形</a:t>
            </a:r>
            <a:r>
              <a:rPr lang="en-US" altLang="zh-TW" i="1" dirty="0"/>
              <a:t>ABCD</a:t>
            </a:r>
            <a:r>
              <a:rPr lang="zh-TW" altLang="en-US" dirty="0"/>
              <a:t>」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三角形可以使用符號「</a:t>
            </a:r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△</a:t>
            </a:r>
            <a:r>
              <a:rPr lang="zh-TW" altLang="en-US" dirty="0"/>
              <a:t>」標示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右圖稱作「三角形</a:t>
            </a:r>
            <a:r>
              <a:rPr lang="en-US" altLang="zh-TW" i="1" dirty="0"/>
              <a:t>ABC</a:t>
            </a:r>
            <a:r>
              <a:rPr lang="zh-TW" altLang="en-US" dirty="0"/>
              <a:t>」或「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</a:t>
            </a:r>
            <a:r>
              <a:rPr lang="en-US" altLang="zh-TW" i="1" dirty="0"/>
              <a:t>ABC</a:t>
            </a:r>
            <a:r>
              <a:rPr lang="zh-TW" altLang="en-US" dirty="0"/>
              <a:t>」</a:t>
            </a:r>
            <a:endParaRPr lang="en-US" altLang="zh-TW" dirty="0"/>
          </a:p>
          <a:p>
            <a:endParaRPr lang="en-US" altLang="zh-TW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03D36C2E-ED24-C060-1B23-9FB289B29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545580"/>
              </p:ext>
            </p:extLst>
          </p:nvPr>
        </p:nvGraphicFramePr>
        <p:xfrm>
          <a:off x="8660172" y="1408545"/>
          <a:ext cx="2294756" cy="1805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169818" imgH="920758" progId="Word.Picture.8">
                  <p:embed/>
                </p:oleObj>
              </mc:Choice>
              <mc:Fallback>
                <p:oleObj name="Picture" r:id="rId2" imgW="1169818" imgH="920758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0172" y="1408545"/>
                        <a:ext cx="2294756" cy="18057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67939C49-D6F7-CF36-F2AB-88433B6B67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1842225"/>
              </p:ext>
            </p:extLst>
          </p:nvPr>
        </p:nvGraphicFramePr>
        <p:xfrm>
          <a:off x="8968510" y="3758692"/>
          <a:ext cx="2863272" cy="19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1350095" imgH="920758" progId="Word.Picture.8">
                  <p:embed/>
                </p:oleObj>
              </mc:Choice>
              <mc:Fallback>
                <p:oleObj name="Picture" r:id="rId4" imgW="1350095" imgH="920758" progId="Word.Picture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8510" y="3758692"/>
                        <a:ext cx="2863272" cy="1949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2231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823968" cy="5120640"/>
          </a:xfrm>
        </p:spPr>
        <p:txBody>
          <a:bodyPr anchor="t"/>
          <a:lstStyle/>
          <a:p>
            <a:r>
              <a:rPr lang="zh-TW" altLang="en-US" dirty="0"/>
              <a:t>將兩個</a:t>
            </a:r>
            <a:r>
              <a:rPr lang="zh-TW" altLang="en-US" b="1" dirty="0">
                <a:solidFill>
                  <a:srgbClr val="FF0000"/>
                </a:solidFill>
              </a:rPr>
              <a:t>不相鄰頂點連接</a:t>
            </a:r>
            <a:r>
              <a:rPr lang="zh-TW" altLang="en-US" dirty="0"/>
              <a:t>起來的線段稱為</a:t>
            </a:r>
            <a:r>
              <a:rPr lang="zh-TW" altLang="en-US" b="1" dirty="0">
                <a:solidFill>
                  <a:srgbClr val="FF0000"/>
                </a:solidFill>
              </a:rPr>
              <a:t>對角線</a:t>
            </a:r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dirty="0"/>
              <a:t>簡單來說，將頂點連結到任一個頂點，扣除「邊」以外，剩下的都是對角線</a:t>
            </a: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6FF85FC6-96DB-A535-3C32-C90284C796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2807012"/>
              </p:ext>
            </p:extLst>
          </p:nvPr>
        </p:nvGraphicFramePr>
        <p:xfrm>
          <a:off x="5634182" y="1547092"/>
          <a:ext cx="3391970" cy="2646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351174" imgH="1065686" progId="Word.Picture.8">
                  <p:embed/>
                </p:oleObj>
              </mc:Choice>
              <mc:Fallback>
                <p:oleObj name="Picture" r:id="rId2" imgW="1351174" imgH="1065686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4182" y="1547092"/>
                        <a:ext cx="3391970" cy="26462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0579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7" y="864108"/>
                <a:ext cx="7934805" cy="5120640"/>
              </a:xfrm>
            </p:spPr>
            <p:txBody>
              <a:bodyPr anchor="t">
                <a:normAutofit/>
              </a:bodyPr>
              <a:lstStyle/>
              <a:p>
                <a:r>
                  <a:rPr lang="zh-TW" altLang="en-US" dirty="0"/>
                  <a:t>垂線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當一條直線與另一條直線相交成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直角</a:t>
                </a:r>
                <a:r>
                  <a:rPr lang="en-US" altLang="zh-TW" dirty="0"/>
                  <a:t>(90°)</a:t>
                </a:r>
                <a:r>
                  <a:rPr lang="zh-TW" altLang="en-US" dirty="0"/>
                  <a:t>時，交點為「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垂足</a:t>
                </a:r>
                <a:r>
                  <a:rPr lang="zh-TW" altLang="en-US" dirty="0"/>
                  <a:t>」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交點會畫出垂直記號「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⌜</a:t>
                </a:r>
                <a:r>
                  <a:rPr lang="zh-TW" altLang="en-US" dirty="0"/>
                  <a:t>」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書寫時的垂直符號是「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⊥</a:t>
                </a:r>
                <a:r>
                  <a:rPr lang="zh-TW" altLang="en-US" dirty="0"/>
                  <a:t>」，例如「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TW" altLang="zh-TW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altLang="zh-TW" sz="2800" b="1" i="1">
                            <a:solidFill>
                              <a:srgbClr val="FF0000"/>
                            </a:solidFill>
                            <a:effectLst/>
                            <a:ea typeface="新細明體" panose="02020500000000000000" pitchFamily="18" charset="-120"/>
                          </a:rPr>
                          <m:t>OA</m:t>
                        </m:r>
                      </m:e>
                    </m:bar>
                  </m:oMath>
                </a14:m>
                <a:r>
                  <a:rPr lang="zh-TW" altLang="zh-TW" b="1" dirty="0">
                    <a:solidFill>
                      <a:srgbClr val="FF0000"/>
                    </a:solidFill>
                  </a:rPr>
                  <a:t>⊥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TW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altLang="zh-TW" b="1" i="1">
                            <a:solidFill>
                              <a:srgbClr val="FF0000"/>
                            </a:solidFill>
                          </a:rPr>
                          <m:t>OB</m:t>
                        </m:r>
                      </m:e>
                    </m:bar>
                  </m:oMath>
                </a14:m>
                <a:r>
                  <a:rPr lang="zh-TW" altLang="en-US" dirty="0"/>
                  <a:t>」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7" y="864108"/>
                <a:ext cx="7934805" cy="5120640"/>
              </a:xfrm>
              <a:blipFill>
                <a:blip r:embed="rId2"/>
                <a:stretch>
                  <a:fillRect l="-1614" t="-2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18B680FF-83AD-66CE-CC76-9AA15EBED5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064614"/>
              </p:ext>
            </p:extLst>
          </p:nvPr>
        </p:nvGraphicFramePr>
        <p:xfrm>
          <a:off x="6764868" y="1893454"/>
          <a:ext cx="3689085" cy="255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1980882" imgH="1390150" progId="Word.Picture.8">
                  <p:embed/>
                </p:oleObj>
              </mc:Choice>
              <mc:Fallback>
                <p:oleObj name="Picture" r:id="rId3" imgW="1980882" imgH="1390150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4868" y="1893454"/>
                        <a:ext cx="3689085" cy="255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5681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7" y="864108"/>
                <a:ext cx="7990223" cy="5120640"/>
              </a:xfrm>
            </p:spPr>
            <p:txBody>
              <a:bodyPr anchor="t">
                <a:normAutofit lnSpcReduction="10000"/>
              </a:bodyPr>
              <a:lstStyle/>
              <a:p>
                <a:r>
                  <a:rPr lang="zh-TW" altLang="en-US" b="1" dirty="0">
                    <a:solidFill>
                      <a:srgbClr val="FF0000"/>
                    </a:solidFill>
                  </a:rPr>
                  <a:t>中垂線</a:t>
                </a:r>
                <a:r>
                  <a:rPr lang="zh-TW" altLang="en-US" dirty="0"/>
                  <a:t>又稱為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垂直平分線</a:t>
                </a:r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r>
                  <a:rPr lang="zh-TW" altLang="en-US" dirty="0"/>
                  <a:t>直線</a:t>
                </a:r>
                <a:r>
                  <a:rPr lang="en-US" altLang="zh-TW" i="1" dirty="0"/>
                  <a:t>L</a:t>
                </a:r>
                <a:r>
                  <a:rPr lang="zh-TW" altLang="en-US" b="1" dirty="0">
                    <a:solidFill>
                      <a:srgbClr val="FF0000"/>
                    </a:solidFill>
                  </a:rPr>
                  <a:t>垂直且平分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TW" altLang="zh-TW" sz="40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altLang="zh-TW" i="1">
                            <a:effectLst/>
                            <a:ea typeface="新細明體" panose="02020500000000000000" pitchFamily="18" charset="-120"/>
                          </a:rPr>
                          <m:t>AB</m:t>
                        </m:r>
                      </m:e>
                    </m:bar>
                    <m:r>
                      <a:rPr lang="zh-TW" altLang="en-US" i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，</m:t>
                    </m:r>
                  </m:oMath>
                </a14:m>
                <a:r>
                  <a:rPr lang="zh-TW" altLang="en-US" dirty="0"/>
                  <a:t>直線</a:t>
                </a:r>
                <a:r>
                  <a:rPr lang="en-US" altLang="zh-TW" i="1" dirty="0"/>
                  <a:t>L</a:t>
                </a:r>
                <a:r>
                  <a:rPr lang="zh-TW" altLang="en-US" dirty="0"/>
                  <a:t>是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TW" altLang="zh-TW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altLang="zh-TW" i="1">
                            <a:ea typeface="新細明體" panose="02020500000000000000" pitchFamily="18" charset="-120"/>
                          </a:rPr>
                          <m:t>AB</m:t>
                        </m:r>
                      </m:e>
                    </m:bar>
                  </m:oMath>
                </a14:m>
                <a:r>
                  <a:rPr lang="zh-TW" altLang="en-US" dirty="0"/>
                  <a:t>的中垂線</a:t>
                </a:r>
                <a:endParaRPr lang="en-US" altLang="zh-TW" dirty="0"/>
              </a:p>
              <a:p>
                <a:r>
                  <a:rPr lang="en-US" altLang="zh-TW" i="1" dirty="0"/>
                  <a:t>M</a:t>
                </a:r>
                <a:r>
                  <a:rPr lang="zh-TW" altLang="en-US" dirty="0"/>
                  <a:t>點是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TW" altLang="zh-TW" sz="40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altLang="zh-TW" i="1">
                            <a:effectLst/>
                            <a:ea typeface="新細明體" panose="02020500000000000000" pitchFamily="18" charset="-120"/>
                          </a:rPr>
                          <m:t>AB</m:t>
                        </m:r>
                      </m:e>
                    </m:bar>
                  </m:oMath>
                </a14:m>
                <a:r>
                  <a:rPr lang="zh-TW" altLang="en-US" dirty="0"/>
                  <a:t>的中點，</a:t>
                </a:r>
                <a:r>
                  <a:rPr lang="zh-TW" altLang="zh-TW" dirty="0"/>
                  <a:t>∠</a:t>
                </a:r>
                <a:r>
                  <a:rPr lang="en-US" altLang="zh-TW" dirty="0"/>
                  <a:t>1</a:t>
                </a:r>
                <a:r>
                  <a:rPr lang="zh-TW" altLang="zh-TW" dirty="0"/>
                  <a:t>＝∠</a:t>
                </a:r>
                <a:r>
                  <a:rPr lang="en-US" altLang="zh-TW" dirty="0"/>
                  <a:t>2</a:t>
                </a:r>
                <a:r>
                  <a:rPr lang="zh-TW" altLang="zh-TW" dirty="0"/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/>
                          <m:t>180°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/>
                          <m:t>2</m:t>
                        </m:r>
                      </m:den>
                    </m:f>
                  </m:oMath>
                </a14:m>
                <a:r>
                  <a:rPr lang="zh-TW" altLang="zh-TW" dirty="0"/>
                  <a:t>＝</a:t>
                </a:r>
                <a:r>
                  <a:rPr lang="en-US" altLang="zh-TW" dirty="0"/>
                  <a:t>90°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 L</a:t>
                </a:r>
                <a:r>
                  <a:rPr lang="zh-TW" altLang="zh-TW" dirty="0"/>
                  <a:t>⊥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altLang="zh-TW" i="1"/>
                          <m:t>AB</m:t>
                        </m:r>
                      </m:e>
                    </m:ba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6415DD-E922-7107-4E29-21983241B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7" y="864108"/>
                <a:ext cx="7990223" cy="5120640"/>
              </a:xfrm>
              <a:blipFill>
                <a:blip r:embed="rId2"/>
                <a:stretch>
                  <a:fillRect l="-1221" t="-29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C232A7AD-D741-789D-2A06-C9579EFBCF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5309857"/>
              </p:ext>
            </p:extLst>
          </p:nvPr>
        </p:nvGraphicFramePr>
        <p:xfrm>
          <a:off x="5842207" y="1123837"/>
          <a:ext cx="3818673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1259776" imgH="1191866" progId="Word.Picture.8">
                  <p:embed/>
                </p:oleObj>
              </mc:Choice>
              <mc:Fallback>
                <p:oleObj name="Picture" r:id="rId3" imgW="1259776" imgH="1191866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207" y="1123837"/>
                        <a:ext cx="3818673" cy="350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3889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線對稱圖形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r>
              <a:rPr lang="zh-TW" altLang="en-US" dirty="0"/>
              <a:t>摺線稱為該圖形的「</a:t>
            </a:r>
            <a:r>
              <a:rPr lang="zh-TW" altLang="en-US" b="1" dirty="0">
                <a:solidFill>
                  <a:srgbClr val="FF0000"/>
                </a:solidFill>
              </a:rPr>
              <a:t>對稱軸</a:t>
            </a:r>
            <a:r>
              <a:rPr lang="zh-TW" altLang="en-US" dirty="0"/>
              <a:t>」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對應疊合的點稱為</a:t>
            </a:r>
            <a:r>
              <a:rPr lang="zh-TW" altLang="en-US" dirty="0"/>
              <a:t>「</a:t>
            </a:r>
            <a:r>
              <a:rPr lang="zh-TW" altLang="zh-TW" b="1" dirty="0">
                <a:solidFill>
                  <a:srgbClr val="FF0000"/>
                </a:solidFill>
              </a:rPr>
              <a:t>對稱點</a:t>
            </a:r>
            <a:r>
              <a:rPr lang="zh-TW" altLang="en-US" dirty="0"/>
              <a:t>」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對應疊合的角稱為</a:t>
            </a:r>
            <a:r>
              <a:rPr lang="zh-TW" altLang="en-US" dirty="0"/>
              <a:t>「</a:t>
            </a:r>
            <a:r>
              <a:rPr lang="zh-TW" altLang="zh-TW" b="1" dirty="0">
                <a:solidFill>
                  <a:srgbClr val="FF0000"/>
                </a:solidFill>
              </a:rPr>
              <a:t>對稱角</a:t>
            </a:r>
            <a:r>
              <a:rPr lang="zh-TW" altLang="en-US" dirty="0"/>
              <a:t>」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對應疊合的線段稱為</a:t>
            </a:r>
            <a:r>
              <a:rPr lang="zh-TW" altLang="en-US" dirty="0"/>
              <a:t>「</a:t>
            </a:r>
            <a:r>
              <a:rPr lang="zh-TW" altLang="zh-TW" b="1" dirty="0">
                <a:solidFill>
                  <a:srgbClr val="FF0000"/>
                </a:solidFill>
              </a:rPr>
              <a:t>對稱線段</a:t>
            </a:r>
            <a:r>
              <a:rPr lang="zh-TW" altLang="en-US" dirty="0"/>
              <a:t>」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F6E578DE-FB82-C4A2-475A-AA22BD6D00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1449762"/>
              </p:ext>
            </p:extLst>
          </p:nvPr>
        </p:nvGraphicFramePr>
        <p:xfrm>
          <a:off x="6905256" y="71551"/>
          <a:ext cx="4704854" cy="3021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970360" imgH="1910160" progId="Word.Picture.8">
                  <p:embed/>
                </p:oleObj>
              </mc:Choice>
              <mc:Fallback>
                <p:oleObj name="Picture" r:id="rId2" imgW="2970360" imgH="1910160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256" y="71551"/>
                        <a:ext cx="4704854" cy="30214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: 圓角 5">
            <a:extLst>
              <a:ext uri="{FF2B5EF4-FFF2-40B4-BE49-F238E27FC236}">
                <a16:creationId xmlns:a16="http://schemas.microsoft.com/office/drawing/2014/main" id="{BF33BEA1-0BAF-4E1C-5AA6-9CFC183F6F5D}"/>
              </a:ext>
            </a:extLst>
          </p:cNvPr>
          <p:cNvSpPr/>
          <p:nvPr/>
        </p:nvSpPr>
        <p:spPr>
          <a:xfrm>
            <a:off x="5621868" y="2595532"/>
            <a:ext cx="6126788" cy="48497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hangingPunct="0">
              <a:lnSpc>
                <a:spcPct val="120000"/>
              </a:lnSpc>
            </a:pP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將圖形對折後可以</a:t>
            </a:r>
            <a:r>
              <a:rPr lang="zh-TW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完全重疊</a:t>
            </a: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，稱為線對稱圖形。</a:t>
            </a:r>
            <a:endParaRPr lang="zh-TW" altLang="en-US" sz="2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9847A7A-F7DE-EA2D-7F18-26532C6E9E00}"/>
              </a:ext>
            </a:extLst>
          </p:cNvPr>
          <p:cNvSpPr/>
          <p:nvPr/>
        </p:nvSpPr>
        <p:spPr>
          <a:xfrm>
            <a:off x="3869268" y="5442908"/>
            <a:ext cx="5922046" cy="5642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hangingPunct="0">
              <a:lnSpc>
                <a:spcPct val="120000"/>
              </a:lnSpc>
            </a:pP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線對稱圖形中，對稱角相等、對稱線段</a:t>
            </a:r>
            <a:r>
              <a:rPr lang="zh-TW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相等</a:t>
            </a:r>
            <a:r>
              <a:rPr lang="zh-TW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11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繪製線對稱圖形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1. </a:t>
            </a:r>
            <a:r>
              <a:rPr lang="zh-TW" altLang="en-US" dirty="0"/>
              <a:t>找出對稱軸</a:t>
            </a:r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找出各點的對稱點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連接各對稱點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4.</a:t>
            </a:r>
            <a:r>
              <a:rPr lang="zh-TW" altLang="en-US" dirty="0"/>
              <a:t> 完成線對稱圖形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使用垂線</a:t>
            </a:r>
            <a:br>
              <a:rPr lang="en-US" altLang="zh-TW" dirty="0"/>
            </a:br>
            <a:r>
              <a:rPr lang="zh-TW" altLang="en-US" dirty="0"/>
              <a:t>找出對稱點</a:t>
            </a: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EEAF782A-5311-388E-3F21-A9C24D1132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17914"/>
              </p:ext>
            </p:extLst>
          </p:nvPr>
        </p:nvGraphicFramePr>
        <p:xfrm>
          <a:off x="6644026" y="3038762"/>
          <a:ext cx="5024582" cy="3429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011562" imgH="1369823" progId="Word.Picture.8">
                  <p:embed/>
                </p:oleObj>
              </mc:Choice>
              <mc:Fallback>
                <p:oleObj name="Picture" r:id="rId2" imgW="2011562" imgH="1369823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4026" y="3038762"/>
                        <a:ext cx="5024582" cy="34290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370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三視圖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三視圖指的是由三個方向觀察物體形狀並繪製的圖，具體有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前視圖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右視圖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上視圖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1F555B0A-6178-A55D-827E-950F6C891E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9210510"/>
              </p:ext>
            </p:extLst>
          </p:nvPr>
        </p:nvGraphicFramePr>
        <p:xfrm>
          <a:off x="6879994" y="2523137"/>
          <a:ext cx="3772380" cy="2892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439333" imgH="1101377" progId="Word.Picture.8">
                  <p:embed/>
                </p:oleObj>
              </mc:Choice>
              <mc:Fallback>
                <p:oleObj name="Picture" r:id="rId2" imgW="1439333" imgH="1101377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9994" y="2523137"/>
                        <a:ext cx="3772380" cy="28921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7B39931B-4C85-779E-B322-050F1665B9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449808"/>
              </p:ext>
            </p:extLst>
          </p:nvPr>
        </p:nvGraphicFramePr>
        <p:xfrm>
          <a:off x="5055351" y="2202862"/>
          <a:ext cx="1294054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721826" imgH="705170" progId="Word.Picture.8">
                  <p:embed/>
                </p:oleObj>
              </mc:Choice>
              <mc:Fallback>
                <p:oleObj name="Picture" r:id="rId4" imgW="721826" imgH="705170" progId="Word.Picture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5351" y="2202862"/>
                        <a:ext cx="1294054" cy="126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F005AA69-A5D5-2D96-8ED6-67CFEB31E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699051"/>
              </p:ext>
            </p:extLst>
          </p:nvPr>
        </p:nvGraphicFramePr>
        <p:xfrm>
          <a:off x="5054599" y="3485725"/>
          <a:ext cx="1294054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721826" imgH="705170" progId="Word.Picture.8">
                  <p:embed/>
                </p:oleObj>
              </mc:Choice>
              <mc:Fallback>
                <p:oleObj name="Picture" r:id="rId6" imgW="721826" imgH="705170" progId="Word.Picture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599" y="3485725"/>
                        <a:ext cx="1294054" cy="12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BA31DE7F-698F-5E86-BF99-6BDD21FB1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15261"/>
              </p:ext>
            </p:extLst>
          </p:nvPr>
        </p:nvGraphicFramePr>
        <p:xfrm>
          <a:off x="5053847" y="4768588"/>
          <a:ext cx="1294806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720396" imgH="703049" progId="Word.Picture.8">
                  <p:embed/>
                </p:oleObj>
              </mc:Choice>
              <mc:Fallback>
                <p:oleObj name="Picture" r:id="rId8" imgW="720396" imgH="703049" progId="Word.Picture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847" y="4768588"/>
                        <a:ext cx="1294806" cy="126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772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A34C-6A5F-0A14-6946-B3A9DEE8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生活中的幾何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15DD-E922-7107-4E29-21983241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dirty="0"/>
              <a:t>其他還有後視圖、左視圖，</a:t>
            </a:r>
            <a:r>
              <a:rPr lang="zh-TW" altLang="en-US" b="1" dirty="0">
                <a:solidFill>
                  <a:srgbClr val="FF0000"/>
                </a:solidFill>
              </a:rPr>
              <a:t>沒有下視圖</a:t>
            </a: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1F1FC133-2FFC-02CD-EA24-CCA7FF362E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7395565"/>
              </p:ext>
            </p:extLst>
          </p:nvPr>
        </p:nvGraphicFramePr>
        <p:xfrm>
          <a:off x="259696" y="678650"/>
          <a:ext cx="2967953" cy="252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709928" imgH="1461893" progId="Word.Picture.8">
                  <p:embed/>
                </p:oleObj>
              </mc:Choice>
              <mc:Fallback>
                <p:oleObj name="Picture" r:id="rId2" imgW="1709928" imgH="1461893" progId="Word.Picture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96" y="678650"/>
                        <a:ext cx="2967953" cy="25227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D18DB0A-235C-4648-E346-150D663FD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11144"/>
              </p:ext>
            </p:extLst>
          </p:nvPr>
        </p:nvGraphicFramePr>
        <p:xfrm>
          <a:off x="4637805" y="1383587"/>
          <a:ext cx="4171078" cy="1544343"/>
        </p:xfrm>
        <a:graphic>
          <a:graphicData uri="http://schemas.openxmlformats.org/drawingml/2006/table">
            <a:tbl>
              <a:tblPr firstRow="1" firstCol="1" bandRow="1"/>
              <a:tblGrid>
                <a:gridCol w="2085539">
                  <a:extLst>
                    <a:ext uri="{9D8B030D-6E8A-4147-A177-3AD203B41FA5}">
                      <a16:colId xmlns:a16="http://schemas.microsoft.com/office/drawing/2014/main" val="55761845"/>
                    </a:ext>
                  </a:extLst>
                </a:gridCol>
                <a:gridCol w="2085539">
                  <a:extLst>
                    <a:ext uri="{9D8B030D-6E8A-4147-A177-3AD203B41FA5}">
                      <a16:colId xmlns:a16="http://schemas.microsoft.com/office/drawing/2014/main" val="382955399"/>
                    </a:ext>
                  </a:extLst>
                </a:gridCol>
              </a:tblGrid>
              <a:tr h="341596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前視圖</a:t>
                      </a:r>
                      <a:endParaRPr lang="zh-TW" sz="18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9443" marR="99443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後視圖</a:t>
                      </a:r>
                      <a:endParaRPr lang="zh-TW" sz="18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9443" marR="99443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473178"/>
                  </a:ext>
                </a:extLst>
              </a:tr>
              <a:tr h="1202747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1700">
                        <a:solidFill>
                          <a:srgbClr val="231F2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9443" marR="99443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1700" dirty="0">
                        <a:solidFill>
                          <a:srgbClr val="231F2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9443" marR="99443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588575"/>
                  </a:ext>
                </a:extLst>
              </a:tr>
            </a:tbl>
          </a:graphicData>
        </a:graphic>
      </p:graphicFrame>
      <p:graphicFrame>
        <p:nvGraphicFramePr>
          <p:cNvPr id="15" name="物件 14">
            <a:extLst>
              <a:ext uri="{FF2B5EF4-FFF2-40B4-BE49-F238E27FC236}">
                <a16:creationId xmlns:a16="http://schemas.microsoft.com/office/drawing/2014/main" id="{C808B49D-129C-CE82-916E-B959E9A91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90067"/>
              </p:ext>
            </p:extLst>
          </p:nvPr>
        </p:nvGraphicFramePr>
        <p:xfrm>
          <a:off x="5140552" y="1783278"/>
          <a:ext cx="1109189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721826" imgH="705170" progId="Word.Picture.8">
                  <p:embed/>
                </p:oleObj>
              </mc:Choice>
              <mc:Fallback>
                <p:oleObj name="Picture" r:id="rId4" imgW="721826" imgH="705170" progId="Word.Picture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552" y="1783278"/>
                        <a:ext cx="1109189" cy="108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物件 15">
            <a:extLst>
              <a:ext uri="{FF2B5EF4-FFF2-40B4-BE49-F238E27FC236}">
                <a16:creationId xmlns:a16="http://schemas.microsoft.com/office/drawing/2014/main" id="{F63C551A-A572-92D2-351D-81E301A7E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152661"/>
              </p:ext>
            </p:extLst>
          </p:nvPr>
        </p:nvGraphicFramePr>
        <p:xfrm>
          <a:off x="7243287" y="1783278"/>
          <a:ext cx="1109189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721826" imgH="705170" progId="Word.Picture.8">
                  <p:embed/>
                </p:oleObj>
              </mc:Choice>
              <mc:Fallback>
                <p:oleObj name="Picture" r:id="rId6" imgW="721826" imgH="705170" progId="Word.Picture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287" y="1783278"/>
                        <a:ext cx="1109189" cy="108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48A005E-C1F9-CD12-4EF5-CB6731DB7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44661"/>
              </p:ext>
            </p:extLst>
          </p:nvPr>
        </p:nvGraphicFramePr>
        <p:xfrm>
          <a:off x="4633504" y="3034442"/>
          <a:ext cx="4171078" cy="1544343"/>
        </p:xfrm>
        <a:graphic>
          <a:graphicData uri="http://schemas.openxmlformats.org/drawingml/2006/table">
            <a:tbl>
              <a:tblPr firstRow="1" firstCol="1" bandRow="1"/>
              <a:tblGrid>
                <a:gridCol w="2085539">
                  <a:extLst>
                    <a:ext uri="{9D8B030D-6E8A-4147-A177-3AD203B41FA5}">
                      <a16:colId xmlns:a16="http://schemas.microsoft.com/office/drawing/2014/main" val="4112806110"/>
                    </a:ext>
                  </a:extLst>
                </a:gridCol>
                <a:gridCol w="2085539">
                  <a:extLst>
                    <a:ext uri="{9D8B030D-6E8A-4147-A177-3AD203B41FA5}">
                      <a16:colId xmlns:a16="http://schemas.microsoft.com/office/drawing/2014/main" val="202099202"/>
                    </a:ext>
                  </a:extLst>
                </a:gridCol>
              </a:tblGrid>
              <a:tr h="340933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左視圖</a:t>
                      </a:r>
                      <a:endParaRPr lang="zh-TW" sz="18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右視圖</a:t>
                      </a:r>
                      <a:endParaRPr lang="zh-TW" sz="18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9211"/>
                  </a:ext>
                </a:extLst>
              </a:tr>
              <a:tr h="1203410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1200" dirty="0">
                        <a:solidFill>
                          <a:srgbClr val="231F2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1200" dirty="0">
                        <a:solidFill>
                          <a:srgbClr val="231F2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249103"/>
                  </a:ext>
                </a:extLst>
              </a:tr>
            </a:tbl>
          </a:graphicData>
        </a:graphic>
      </p:graphicFrame>
      <p:graphicFrame>
        <p:nvGraphicFramePr>
          <p:cNvPr id="21" name="物件 20">
            <a:extLst>
              <a:ext uri="{FF2B5EF4-FFF2-40B4-BE49-F238E27FC236}">
                <a16:creationId xmlns:a16="http://schemas.microsoft.com/office/drawing/2014/main" id="{0A3BB314-9C82-D87E-42A4-876713D2E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578013"/>
              </p:ext>
            </p:extLst>
          </p:nvPr>
        </p:nvGraphicFramePr>
        <p:xfrm>
          <a:off x="5116945" y="3459703"/>
          <a:ext cx="1109189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721826" imgH="705170" progId="Word.Picture.8">
                  <p:embed/>
                </p:oleObj>
              </mc:Choice>
              <mc:Fallback>
                <p:oleObj name="Picture" r:id="rId8" imgW="721826" imgH="705170" progId="Word.Picture.8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945" y="3459703"/>
                        <a:ext cx="1109189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物件 21">
            <a:extLst>
              <a:ext uri="{FF2B5EF4-FFF2-40B4-BE49-F238E27FC236}">
                <a16:creationId xmlns:a16="http://schemas.microsoft.com/office/drawing/2014/main" id="{F54D366D-A57F-CE7C-F40C-9D3F56D965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414137"/>
              </p:ext>
            </p:extLst>
          </p:nvPr>
        </p:nvGraphicFramePr>
        <p:xfrm>
          <a:off x="7243287" y="3424428"/>
          <a:ext cx="1109189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0" imgW="721826" imgH="705170" progId="Word.Picture.8">
                  <p:embed/>
                </p:oleObj>
              </mc:Choice>
              <mc:Fallback>
                <p:oleObj name="Picture" r:id="rId10" imgW="721826" imgH="705170" progId="Word.Picture.8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287" y="3424428"/>
                        <a:ext cx="1109189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3E44570-47B8-41B1-E84E-6D14EA59C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73691"/>
              </p:ext>
            </p:extLst>
          </p:nvPr>
        </p:nvGraphicFramePr>
        <p:xfrm>
          <a:off x="4633504" y="4685297"/>
          <a:ext cx="4171078" cy="1818930"/>
        </p:xfrm>
        <a:graphic>
          <a:graphicData uri="http://schemas.openxmlformats.org/drawingml/2006/table">
            <a:tbl>
              <a:tblPr firstRow="1" firstCol="1" bandRow="1"/>
              <a:tblGrid>
                <a:gridCol w="4171078">
                  <a:extLst>
                    <a:ext uri="{9D8B030D-6E8A-4147-A177-3AD203B41FA5}">
                      <a16:colId xmlns:a16="http://schemas.microsoft.com/office/drawing/2014/main" val="2430932530"/>
                    </a:ext>
                  </a:extLst>
                </a:gridCol>
              </a:tblGrid>
              <a:tr h="374353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上視圖</a:t>
                      </a:r>
                      <a:r>
                        <a:rPr lang="zh-TW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lang="zh-TW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又稱為俯視圖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)</a:t>
                      </a:r>
                      <a:endParaRPr lang="zh-TW" sz="18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20243"/>
                  </a:ext>
                </a:extLst>
              </a:tr>
              <a:tr h="1444577">
                <a:tc>
                  <a:txBody>
                    <a:bodyPr/>
                    <a:lstStyle/>
                    <a:p>
                      <a:pPr indent="-734695" algn="ctr" hangingPunct="0">
                        <a:lnSpc>
                          <a:spcPct val="12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1200" dirty="0">
                        <a:solidFill>
                          <a:srgbClr val="231F2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038820"/>
                  </a:ext>
                </a:extLst>
              </a:tr>
            </a:tbl>
          </a:graphicData>
        </a:graphic>
      </p:graphicFrame>
      <p:graphicFrame>
        <p:nvGraphicFramePr>
          <p:cNvPr id="28" name="物件 27">
            <a:extLst>
              <a:ext uri="{FF2B5EF4-FFF2-40B4-BE49-F238E27FC236}">
                <a16:creationId xmlns:a16="http://schemas.microsoft.com/office/drawing/2014/main" id="{63B95992-6C90-4208-FB60-D850810F5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52322"/>
              </p:ext>
            </p:extLst>
          </p:nvPr>
        </p:nvGraphicFramePr>
        <p:xfrm>
          <a:off x="6219627" y="5185020"/>
          <a:ext cx="1109189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2" imgW="721826" imgH="705170" progId="Word.Picture.8">
                  <p:embed/>
                </p:oleObj>
              </mc:Choice>
              <mc:Fallback>
                <p:oleObj name="Picture" r:id="rId12" imgW="721826" imgH="705170" progId="Word.Picture.8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627" y="5185020"/>
                        <a:ext cx="1109189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物件 29">
            <a:extLst>
              <a:ext uri="{FF2B5EF4-FFF2-40B4-BE49-F238E27FC236}">
                <a16:creationId xmlns:a16="http://schemas.microsoft.com/office/drawing/2014/main" id="{2CBB92B1-C77F-AEB2-EBCC-EC141FD0C7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752797"/>
              </p:ext>
            </p:extLst>
          </p:nvPr>
        </p:nvGraphicFramePr>
        <p:xfrm>
          <a:off x="9004445" y="1465405"/>
          <a:ext cx="2117647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4" imgW="1709928" imgH="1461893" progId="Word.Picture.8">
                  <p:embed/>
                </p:oleObj>
              </mc:Choice>
              <mc:Fallback>
                <p:oleObj name="Picture" r:id="rId14" imgW="1709928" imgH="1461893" progId="Word.Picture.8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445" y="1465405"/>
                        <a:ext cx="2117647" cy="180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物件 31">
            <a:extLst>
              <a:ext uri="{FF2B5EF4-FFF2-40B4-BE49-F238E27FC236}">
                <a16:creationId xmlns:a16="http://schemas.microsoft.com/office/drawing/2014/main" id="{69C86246-B7D2-9416-7D7E-51261281DD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952856"/>
              </p:ext>
            </p:extLst>
          </p:nvPr>
        </p:nvGraphicFramePr>
        <p:xfrm>
          <a:off x="8914939" y="3034442"/>
          <a:ext cx="2117647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6" imgW="1709928" imgH="1461893" progId="Word.Picture.8">
                  <p:embed/>
                </p:oleObj>
              </mc:Choice>
              <mc:Fallback>
                <p:oleObj name="Picture" r:id="rId16" imgW="1709928" imgH="1461893" progId="Word.Picture.8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4939" y="3034442"/>
                        <a:ext cx="2117647" cy="180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物件 33">
            <a:extLst>
              <a:ext uri="{FF2B5EF4-FFF2-40B4-BE49-F238E27FC236}">
                <a16:creationId xmlns:a16="http://schemas.microsoft.com/office/drawing/2014/main" id="{CAC2986E-C746-0CCA-C1EE-10C74AD5B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83322"/>
              </p:ext>
            </p:extLst>
          </p:nvPr>
        </p:nvGraphicFramePr>
        <p:xfrm>
          <a:off x="8914939" y="4786045"/>
          <a:ext cx="2117647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8" imgW="1709928" imgH="1461893" progId="Word.Picture.8">
                  <p:embed/>
                </p:oleObj>
              </mc:Choice>
              <mc:Fallback>
                <p:oleObj name="Picture" r:id="rId18" imgW="1709928" imgH="1461893" progId="Word.Picture.8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4939" y="4786045"/>
                        <a:ext cx="2117647" cy="180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738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框架">
  <a:themeElements>
    <a:clrScheme name="框架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472</TotalTime>
  <Words>2436</Words>
  <Application>Microsoft Office PowerPoint</Application>
  <PresentationFormat>寬螢幕</PresentationFormat>
  <Paragraphs>488</Paragraphs>
  <Slides>37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37</vt:i4>
      </vt:variant>
    </vt:vector>
  </HeadingPairs>
  <TitlesOfParts>
    <vt:vector size="50" baseType="lpstr">
      <vt:lpstr>cjkFonts 全瀨體</vt:lpstr>
      <vt:lpstr>華康明體o浡渀.</vt:lpstr>
      <vt:lpstr>新細明體</vt:lpstr>
      <vt:lpstr>標楷體</vt:lpstr>
      <vt:lpstr>Aptos</vt:lpstr>
      <vt:lpstr>Arial</vt:lpstr>
      <vt:lpstr>Cambria Math</vt:lpstr>
      <vt:lpstr>Corbel</vt:lpstr>
      <vt:lpstr>Times New Roman</vt:lpstr>
      <vt:lpstr>Wingdings 2</vt:lpstr>
      <vt:lpstr>框架</vt:lpstr>
      <vt:lpstr>Picture</vt:lpstr>
      <vt:lpstr>Document</vt:lpstr>
      <vt:lpstr>114-2 七下數學三段複習</vt:lpstr>
      <vt:lpstr>段考注意事項</vt:lpstr>
      <vt:lpstr>4-1 一元一次不等式</vt:lpstr>
      <vt:lpstr>4-1 一元一次不等式</vt:lpstr>
      <vt:lpstr>4-1 一元一次不等式</vt:lpstr>
      <vt:lpstr>4-1 一元一次不等式</vt:lpstr>
      <vt:lpstr>4-1 一元一次不等式</vt:lpstr>
      <vt:lpstr>4-2 解一元一次不等式</vt:lpstr>
      <vt:lpstr>4-2 解一元一次不等式</vt:lpstr>
      <vt:lpstr>4-2 解一元一次不等式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5 統計</vt:lpstr>
      <vt:lpstr>6 生活中的幾何</vt:lpstr>
      <vt:lpstr>6 生活中的幾何</vt:lpstr>
      <vt:lpstr>6 生活中的幾何</vt:lpstr>
      <vt:lpstr>6 生活中的幾何</vt:lpstr>
      <vt:lpstr>6 生活中的幾何</vt:lpstr>
      <vt:lpstr>6 生活中的幾何</vt:lpstr>
      <vt:lpstr>6 生活中的幾何</vt:lpstr>
      <vt:lpstr>6 生活中的幾何</vt:lpstr>
      <vt:lpstr>6 生活中的幾何</vt:lpstr>
      <vt:lpstr>6 生活中的幾何</vt:lpstr>
      <vt:lpstr>6 生活中的幾何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114-2 七下數學三段複習</dc:title>
  <dc:creator>user</dc:creator>
  <cp:lastModifiedBy>user</cp:lastModifiedBy>
  <cp:revision>32</cp:revision>
  <dcterms:created xsi:type="dcterms:W3CDTF">2026-06-14T06:25:38Z</dcterms:created>
  <dcterms:modified xsi:type="dcterms:W3CDTF">2026-06-16T06:15:01Z</dcterms:modified>
</cp:coreProperties>
</file>